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68" r:id="rId4"/>
    <p:sldId id="271" r:id="rId5"/>
    <p:sldId id="272" r:id="rId6"/>
    <p:sldId id="269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13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89C1C7-3DCD-1040-A9CF-14679D8B5DDD}" type="datetime1">
              <a:rPr lang="en-US"/>
              <a:pPr lvl="0">
                <a:defRPr/>
              </a:pPr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B5E49A5-4136-284D-997B-48E1D791AD67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5주차 워크북(시트1 한 문장 요약, 시트2 IR Deck 초안) 양식.</a:t>
            </a:r>
          </a:p>
          <a:p>
            <a:r>
              <a:t>- 1주차 뭉산 워크북: 오픈채팅방 15개·1.5만 명, 대표 12명 인터뷰, 45명 설문(총 110명) 및 검증 지표.</a:t>
            </a:r>
          </a:p>
          <a:p>
            <a:r>
              <a:t>- 2주차 뭉산 워크북: 인증-공고-제안-미팅-프로젝트 생성 MVP 흐름, 87개 기업 DB·660명+ 네트워크, 50/10/5/2 기준.</a:t>
            </a:r>
          </a:p>
          <a:p>
            <a:r>
              <a:t>- 3주차 뭉산 워크북: 거래 수수료 2~3%(표준 3%·초기 2%), 5만원 예약금, 20/12/6/3/2 기준.</a:t>
            </a:r>
          </a:p>
          <a:p>
            <a:r>
              <a:t>- 4주차 뭉산 워크북: 판단 '지속(Persevere)', 14일 폐쇄형 PoC 계획, 실측 전(N/A) 상태.</a:t>
            </a:r>
          </a:p>
          <a:p>
            <a:r>
              <a:t>- 본 슬라이드의 전환율·건수는 달성 실적이 아니라 실험 통과 기준이며, PoC 미실행 상태임을 명시함.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5주차 워크북(시트1 한 문장 요약, 시트2 IR Deck 초안) 양식.</a:t>
            </a:r>
          </a:p>
          <a:p>
            <a:r>
              <a:t>- 1주차 뭉산 워크북: 오픈채팅방 15개·1.5만 명, 대표 12명 인터뷰, 45명 설문(총 110명) 및 검증 지표.</a:t>
            </a:r>
          </a:p>
          <a:p>
            <a:r>
              <a:t>- 2주차 뭉산 워크북: 인증-공고-제안-미팅-프로젝트 생성 MVP 흐름, 87개 기업 DB·660명+ 네트워크, 50/10/5/2 기준.</a:t>
            </a:r>
          </a:p>
          <a:p>
            <a:r>
              <a:t>- 3주차 뭉산 워크북: 거래 수수료 2~3%(표준 3%·초기 2%), 5만원 예약금, 20/12/6/3/2 기준.</a:t>
            </a:r>
          </a:p>
          <a:p>
            <a:r>
              <a:t>- 4주차 뭉산 워크북: 판단 '지속(Persevere)', 14일 폐쇄형 PoC 계획, 실측 전(N/A) 상태.</a:t>
            </a:r>
          </a:p>
          <a:p>
            <a:r>
              <a:t>- 본 슬라이드의 전환율·건수는 달성 실적이 아니라 실험 통과 기준이며, PoC 미실행 상태임을 명시함.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5주차 워크북(시트1 한 문장 요약, 시트2 IR Deck 초안) 양식.</a:t>
            </a:r>
          </a:p>
          <a:p>
            <a:r>
              <a:t>- 1주차 뭉산 워크북: 오픈채팅방 15개·1.5만 명, 대표 12명 인터뷰, 45명 설문(총 110명) 및 검증 지표.</a:t>
            </a:r>
          </a:p>
          <a:p>
            <a:r>
              <a:t>- 2주차 뭉산 워크북: 인증-공고-제안-미팅-프로젝트 생성 MVP 흐름, 87개 기업 DB·660명+ 네트워크, 50/10/5/2 기준.</a:t>
            </a:r>
          </a:p>
          <a:p>
            <a:r>
              <a:t>- 3주차 뭉산 워크북: 거래 수수료 2~3%(표준 3%·초기 2%), 5만원 예약금, 20/12/6/3/2 기준.</a:t>
            </a:r>
          </a:p>
          <a:p>
            <a:r>
              <a:t>- 4주차 뭉산 워크북: 판단 '지속(Persevere)', 14일 폐쇄형 PoC 계획, 실측 전(N/A) 상태.</a:t>
            </a:r>
          </a:p>
          <a:p>
            <a:r>
              <a:t>- 본 슬라이드의 전환율·건수는 달성 실적이 아니라 실험 통과 기준이며, PoC 미실행 상태임을 명시함.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5주차 워크북(시트1 한 문장 요약, 시트2 IR Deck 초안) 양식.</a:t>
            </a:r>
          </a:p>
          <a:p>
            <a:r>
              <a:t>- 1주차 뭉산 워크북: 오픈채팅방 15개·1.5만 명, 대표 12명 인터뷰, 45명 설문(총 110명) 및 검증 지표.</a:t>
            </a:r>
          </a:p>
          <a:p>
            <a:r>
              <a:t>- 2주차 뭉산 워크북: 인증-공고-제안-미팅-프로젝트 생성 MVP 흐름, 87개 기업 DB·660명+ 네트워크, 50/10/5/2 기준.</a:t>
            </a:r>
          </a:p>
          <a:p>
            <a:r>
              <a:t>- 3주차 뭉산 워크북: 거래 수수료 2~3%(표준 3%·초기 2%), 5만원 예약금, 20/12/6/3/2 기준.</a:t>
            </a:r>
          </a:p>
          <a:p>
            <a:r>
              <a:t>- 4주차 뭉산 워크북: 판단 '지속(Persevere)', 14일 폐쇄형 PoC 계획, 실측 전(N/A) 상태.</a:t>
            </a:r>
          </a:p>
          <a:p>
            <a:r>
              <a:t>- 본 슬라이드의 전환율·건수는 달성 실적이 아니라 실험 통과 기준이며, PoC 미실행 상태임을 명시함.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98C55-B77D-ED7A-CC8E-BE060885C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A3882B-1E8A-D459-92FA-A9F8109D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F4E75-4B67-4BD0-3177-97216C44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56996-1323-8FDB-1257-6B5527D9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3D3D4-0759-6CEA-FFCC-AEBD99C7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0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7ED09-4DC7-B91E-179A-8C81EC21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DFA21-4B06-01E4-4F30-A545CC5B7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7969C-384D-C020-2272-F3C48D67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3F8B6-0B30-6C31-D430-7F8B46B7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11D1A-9CBC-F87B-95C9-7ACFBBB0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1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98D92-7F8F-2C26-C438-516CD62B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60AE69-2D17-EEA4-3DF8-B669EDFB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684DF-ACE1-4BB0-3A02-D1F49111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B1E97-F293-1F31-C4BF-A77FED9B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0C11A-08C2-0BD8-9FDC-7A10D61F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3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323C4-B80B-763E-2195-1CE53064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D10B0-8F4C-6F62-A5B2-B484AC3DB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C93F54-0021-0131-94BE-497AE3E6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045B05-07A3-3ABC-BD81-005A307D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E1E25D-7E37-B283-E697-817E6FD9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55BED-CB5E-C156-C127-E252CB26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1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5E66F-093A-A776-A748-4FF60DB1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371DA-6B98-D0AD-9E89-C6F6B8988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648B26-75CB-CA59-FF4E-B472938CB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96FF85-068B-1CB5-9409-6421738B7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C0851A-4253-7C7B-7E76-0A8CE476F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549FD6-64FF-6D63-52D2-A8AF2FA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9DA47A-FC28-15C3-03B3-9D72F441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FF1AFC-6B20-F0EC-EF67-4F00EFF1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25B47-0CBB-5658-069B-3018CD15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E1DFF9-91B6-C4DE-B3E7-95AB58EF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4AB73D-FEDE-8A96-4DB1-7473132C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76FA6C-4E64-20BA-6B32-3CF66939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7FAB1F-295B-AC21-C071-3BF9860C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E21973-BCA0-6109-C709-94DA79B4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88DBF-E519-9A17-D37A-434F57F8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7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99783-3F89-B8DF-62E2-78303B95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39041-3FC3-C833-8C60-E1072799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7FD89E-0CBB-46F6-8663-F2F2D3E7D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161E02-18F0-46DF-A342-291359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678FD1-00B3-C384-0C8D-22DD4E49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64937E-51A4-D84D-7465-70CD2AB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2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D2C60-CD1D-6D8A-0082-10BD507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30D1BA-725D-673C-C110-52359EA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FEEE1-B1A3-B62B-6BCC-1476E169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CDEF6-8F68-4420-B9C6-60F5E0AF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98195-1BE4-8CF3-782A-360669D6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CC812-7045-F61D-0F37-40D5138A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07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7C41-9577-8888-E94B-303BFA97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5B43D5-C0D1-4639-C317-FFCF1A53A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AC011-679E-8BD0-F9E9-DF843B10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FF049-8958-8101-FAA4-5487D6E1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6AF47-8B53-B3DC-26D4-1720ED1F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5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DAFD22-25DB-DEEC-9F0D-7449B0EDB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CAF8B6-AD5D-C2DC-D1CE-E06C1FE9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82369-C770-7957-327C-C5E293A2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EBBF8-98CF-BE98-AE75-002DD7D2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6665B-A8AE-332F-BFAF-68E5C9F0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8826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7F7159-A015-062E-9C34-A48FEC9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00051C-8FF3-EFE4-E2B0-A994EEEF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6CA09-E796-F62F-0099-69729C637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B2BA5-9042-F030-C6A6-59D137D75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F0570-4D6B-0471-58DC-8D9C07428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73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02B577-0C18-6FBD-C091-D9968216CE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077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60C05F-3286-CA33-C794-FC9B915E41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S1-1"/>
          <p:cNvSpPr txBox="1"/>
          <p:nvPr/>
        </p:nvSpPr>
        <p:spPr>
          <a:xfrm>
            <a:off x="5626438" y="1628924"/>
            <a:ext cx="5800965" cy="68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창업 1~3년 차 대표·임원 110명 중 다수가 “지인 소개 밖에서는 믿을 만한 협업 기업을 찾을 방법이 없다”고 답했습니다.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협업 상대를 못 찾으면 수주와 일정 자체가 밀리는데, 지금 그 탐색은 전부 대표 개인의 인맥에 걸려 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101" name="S1-2"/>
          <p:cNvSpPr txBox="1"/>
          <p:nvPr/>
        </p:nvSpPr>
        <p:spPr>
          <a:xfrm>
            <a:off x="5626438" y="2368589"/>
            <a:ext cx="5800965" cy="68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상대 기업의 실체·역량·응답 가능성을 확인할 방법이 없어, 대표가 탐색·검증·미팅 조율을 직접 떠안습니다.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지인 소개·오픈채팅(15개 방·1.5만 명)·리멤버·크몽은 익명이거나 단발 외주 구조라 ‘검증된 기업과의 협업’을 해결하지 못했습니다.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102" name="S1-3"/>
          <p:cNvSpPr txBox="1"/>
          <p:nvPr/>
        </p:nvSpPr>
        <p:spPr>
          <a:xfrm>
            <a:off x="5626438" y="3108254"/>
            <a:ext cx="5800965" cy="68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사업자등록증 기반 기업 인증 → 협업 공고 → 제안 → 수락 → 미팅 → 프로젝트 생성까지 웹앱으로 실제 배포했습니다.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87개 기업 DB와 660명+ 창업가 네트워크, 전북 MICE·창업지원기관 채널로 20개 기업 1:1 초대형 폐쇄 PoC를 설계했습니다.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103" name="S1-4"/>
          <p:cNvSpPr txBox="1"/>
          <p:nvPr/>
        </p:nvSpPr>
        <p:spPr>
          <a:xfrm>
            <a:off x="5626438" y="3847918"/>
            <a:ext cx="5800965" cy="68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4주차 리플렉션 결과 익명 라운지·부가 AI 기능을 이번 검증에서 걷어내고 ‘검증된 기업과의 협업 거래’ 한 흐름만 남겼습니다.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핵심 가치: 지인 소개를 기다리지 않고, 조건이 명시된 검증 기업에 직접 제안하고 성사된 뒤에만 비용을 낸다.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104" name="S1-5"/>
          <p:cNvSpPr txBox="1"/>
          <p:nvPr/>
        </p:nvSpPr>
        <p:spPr>
          <a:xfrm>
            <a:off x="5626438" y="4587583"/>
            <a:ext cx="5800965" cy="68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핵심 정량 지표는 ‘미팅 → 유료 PoC 약정·5만원 예약금 결제 전환율’이며, 통과 기준은 미팅 3건 중 2건(67%)입니다.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현재 확보된 증거는 110명 문제 조사, 실배포 웹앱, 87개사 DB·660명+ 네트워크이며 결제 실측치는 아직 없습니다(PoC 실행 전).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105" name="S1-6"/>
          <p:cNvSpPr txBox="1"/>
          <p:nvPr/>
        </p:nvSpPr>
        <p:spPr>
          <a:xfrm>
            <a:off x="5626438" y="5318937"/>
            <a:ext cx="5800965" cy="68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다음은 14일 폐쇄형 PoC에서 인증 12·제안 6·미팅 3·유료 약정 2건을 목표로 실행하고, 통과 시 50개사로 확장해 표준 3% 전환을 검증합니다.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투자·협업 요청 포인트: 예산·기간이 확정된 협업 프로젝트 5건 공급과 초기 20개 기업 연결.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</p:spTree>
    <p:extLst>
      <p:ext uri="{BB962C8B-B14F-4D97-AF65-F5344CB8AC3E}">
        <p14:creationId xmlns:p14="http://schemas.microsoft.com/office/powerpoint/2010/main" val="506331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4B2920-06AF-EB1F-E85F-CC1B49470D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S2-1"/>
          <p:cNvSpPr txBox="1"/>
          <p:nvPr/>
        </p:nvSpPr>
        <p:spPr>
          <a:xfrm>
            <a:off x="5510086" y="1529194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대표·임원 110명을 직접 조사했습니다(‘스타트업 대표’ 키워드 오픈채팅방 15개·1.5만 명 관찰, 창업 1~3년 차 대표 12명 인터뷰, 대표·임원 45명 설문).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페르소나: 인력과 네트워크가 제한적이고 대표가 직접 구매를 결정하는 창업 1~3년 차 기업의 대표·임원.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이들에게 ‘함께 일할 검증된 기업을 찾는 일’은 취향이 아니라 수주와 일정에 직결되는 생존 문제입니다.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02" name="S2-2"/>
          <p:cNvSpPr txBox="1"/>
          <p:nvPr/>
        </p:nvSpPr>
        <p:spPr>
          <a:xfrm>
            <a:off x="5510086" y="2642847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기존 대안은 지인 소개, 카카오톡 오픈채팅, 리멤버, 크몽·숨고 등의 외주 플랫폼입니다.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한계: 익명이라 상대 기업의 실체·역량·응답 가능성을 확인할 수 없고, 발주-수주형 단발 외주라 ‘대등한 협업’ 구조가 없습니다.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그 결과 대표가 탐색·검증·제안서 재작성·미팅 조율을 모두 떠안고, 적합한 상대를 못 찾으면 수주와 계약이 그대로 지연됩니다.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03" name="S2-3"/>
          <p:cNvSpPr txBox="1"/>
          <p:nvPr/>
        </p:nvSpPr>
        <p:spPr>
          <a:xfrm>
            <a:off x="5510086" y="3756499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실배포 웹앱 MVP 6단계: ① 사업자등록증 기반 기업 인증 → ② 관리자 승인 → ③ 협업 공고 등록·열람(목적·역량·예산·기간·지역) → ④ 제안·수락 → ⑤ 프로젝트 자동 생성 → ⑥ 미팅 후 유료 ‘협업 설계 리포트’.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실행 채널: 87개 기업 DB와 660명+ 창업가 네트워크 1:1 초대, 전북 MICE 매칭데이·창업지원기관 2차 채널.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보여준 것: 검증된 기업에 직접 협업을 제안하는 전 과정을 실제 화면에서 끝까지 경험할 수 있다는 점.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04" name="S2-4"/>
          <p:cNvSpPr txBox="1"/>
          <p:nvPr/>
        </p:nvSpPr>
        <p:spPr>
          <a:xfrm>
            <a:off x="5510086" y="4870151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타깃 시장: 전북·창업 네트워크 기반의 창업 1~3년 차 기업 대표·임원(B2B 협업 수요 보유층).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확인된 수요 신호: 대표·CEO·창업자 키워드 오픈채팅방 15개에 약 1.5만 명이 모여 협업·투자·지원사업 정보를 비공식 채널에서 구하고 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1차 접점으로 87개 기업 DB, 660명+ 창업가 네트워크를 이미 확보했습니다.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※ 유입 수·클릭률·신청률과 시장 규모·성장률은 폐쇄형 PoC와 랜딩 실험에서 수집 예정(현재 미측정).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</p:spTree>
    <p:extLst>
      <p:ext uri="{BB962C8B-B14F-4D97-AF65-F5344CB8AC3E}">
        <p14:creationId xmlns:p14="http://schemas.microsoft.com/office/powerpoint/2010/main" val="386335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E928C6-4832-E64B-7F6E-9482288291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5" name="S2-5"/>
          <p:cNvSpPr txBox="1"/>
          <p:nvPr/>
        </p:nvSpPr>
        <p:spPr>
          <a:xfrm>
            <a:off x="5510086" y="1529194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경쟁 대안: 지인 소개 / 카카오톡 오픈채팅 / 리멤버 / 크몽·숨고 등 외주 플랫폼.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드러난 불만: 상대의 실체와 역량을 검증할 수 없음, 응답이 오지 않음, 협업 조건·역할·예산이 구조화되지 않아 매번 처음부터 조율해야 함.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차별점: 사업자등록증 기반 기업 인증 + 조건이 명시된 협업 공고 + 제안·미팅·계약·프로젝트 관리까지 한 흐름 + 성사 시에만 과금.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전환율 비교는 폐쇄형 PoC의 단계별 전환 데이터 확보 후 제시합니다.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06" name="S2-6"/>
          <p:cNvSpPr txBox="1"/>
          <p:nvPr/>
        </p:nvSpPr>
        <p:spPr>
          <a:xfrm>
            <a:off x="5510086" y="2699997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수익 구조(일회·성과형): 협업 계약이 뭉산을 통해 성사되면 프로젝트 주관 기업이 거래액의 2~3%를 지불합니다(표준 3%, 초기 PoC 2%).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과금 흐름: 인증 → 공고·제안 → 미팅 → 조건 합의 → 수수료 안내 확인 → 유료 PoC 약정 + 5만원 예약금 결제(성사 수수료에서 차감).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성사 전에는 비용이 없어 초기기업의 선결제 부담과 실패 위험이 낮고, 가격안(2%/2.5%/3%)별 선택률과 거절 사유로 최소·상한 구조를 정합니다.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AI 셰르파 구독 등 부가 수익은 이번 검증 범위에서 분리했습니다.</a:t>
            </a:r>
            <a:endParaRPr lang="en-US" altLang="ko-KR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07" name="S2-7"/>
          <p:cNvSpPr txBox="1"/>
          <p:nvPr/>
        </p:nvSpPr>
        <p:spPr>
          <a:xfrm>
            <a:off x="5510086" y="3756499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 fontScale="92500"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현재 상태: 폐쇄형 PoC 실행 전으로 결제·전환 실측치는 없습니다(N/A). 아래는 달성 실적이 아닌 설정 기준입니다.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확보된 성과(실적): 문제 검증 110명 조사, 협업 흐름 전 구간을 담은 웹앱 실배포, 초기 공급 채널 87개사·660명+ 네트워크.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설정한 통과 기준(클릭→전환→지불): 초대 20 → 인증 12(60%) → 제안 6 → 미팅 3 → 유료 약정·예약금 2건(미팅 대비 67%).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세그먼트 가설: 최근 6개월 내 협업 수요·경험이 있는 대표·임원에서 전환이 가장 높을 것으로 보고 초대 단계에서 선별합니다.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08" name="S2-8"/>
          <p:cNvSpPr txBox="1"/>
          <p:nvPr/>
        </p:nvSpPr>
        <p:spPr>
          <a:xfrm>
            <a:off x="5510086" y="4870151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14일 폐쇄형 PoC — 1~3일: 예산·기간·필요 역량이 확정된 협업 공고 5건 선확보 + 타깃 20개사 1:1 초대 / 4~10일: 기업 인증 12개, 제안 6건, 운영자 24시간 내 응답 / 11~14일: 미팅 3건, ‘표준 3%·초기 2%’ 제시, 유료 약정·예약금 2건.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통과 시: 50개 기업으로 2차 확장하고 표준 3% 전환을 검증합니다.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미달 시: 프로젝트 공급 / 제안 UX / 가격·과금 주체 중 병목 구간만 수정하며, 인증·공고·제안·미팅·결제 외 기능은 보류합니다.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</p:spTree>
    <p:extLst>
      <p:ext uri="{BB962C8B-B14F-4D97-AF65-F5344CB8AC3E}">
        <p14:creationId xmlns:p14="http://schemas.microsoft.com/office/powerpoint/2010/main" val="1799673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76F677-41A8-CDAF-E807-DB68DA74A9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9" name="S2-9"/>
          <p:cNvSpPr txBox="1"/>
          <p:nvPr/>
        </p:nvSpPr>
        <p:spPr>
          <a:xfrm>
            <a:off x="5510086" y="1529194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4주간 1주 1사이클(고객 조사 → MVP 실배포 → 수익모델 설계 → 전략 리플렉션)로 학습·반복 실행을 4회 완주했습니다.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핵심 역량 — 개발: 인증·공고·제안·미팅·프로젝트 생성까지 웹앱 실배포 완료 / 마케팅: 87개 기업 DB와 660명+ 창업가 네트워크, 전북 MICE·창업지원기관 채널 보유 / 운영: 대표의 1:1 컨시어지로 제안·미팅·조건 정리를 직접 지원.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운영 자원: 창업활동자금 200만원, 빌링AI·Claude Max 기반의 소수 인원 운영 체계.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  <p:sp>
        <p:nvSpPr>
          <p:cNvPr id="210" name="S2-10"/>
          <p:cNvSpPr txBox="1"/>
          <p:nvPr/>
        </p:nvSpPr>
        <p:spPr>
          <a:xfrm>
            <a:off x="5510086" y="2642847"/>
            <a:ext cx="5917317" cy="10471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우리는 대표·임원 110명에게서 ‘검증된 협업 파트너의 부재’라는 문제를 확인했고, 그 문제를 푸는 웹앱을 실제로 배포했으며, 성사 시에만 2~3%를 받는 수익 구조와 5만원 예약금으로 지불 의사를 검증하는 실험을 준비했습니다.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지금 필요한 것은 예산·기간이 확정된 협업 프로젝트 5건의 공급과 초기 20개 기업의 연결입니다.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  <a:p>
            <a:pPr marL="0" indent="0" algn="l">
              <a:lnSpc>
                <a:spcPct val="112000"/>
              </a:lnSpc>
              <a:spcAft>
                <a:spcPts val="140"/>
              </a:spcAft>
              <a:defRPr/>
            </a:pPr>
            <a:r>
              <a:rPr lang="ko-KR" altLang="en-US" sz="900" b="0">
                <a:solidFill>
                  <a:srgbClr val="333333"/>
                </a:solidFill>
                <a:latin typeface="한컴돋움"/>
                <a:ea typeface="한컴돋움"/>
                <a:cs typeface="Noto Sans KR Thin"/>
              </a:rPr>
              <a:t>이 구간을 넘으면 ‘성사 기반 거래 수수료’ 모델의 반복 가능성이 데이터로 증명됩니다.</a:t>
            </a:r>
            <a:endParaRPr lang="ko-KR" altLang="en-US" sz="900" b="0">
              <a:solidFill>
                <a:srgbClr val="333333"/>
              </a:solidFill>
              <a:latin typeface="한컴돋움"/>
              <a:ea typeface="한컴돋움"/>
              <a:cs typeface="Noto Sans KR Thin"/>
            </a:endParaRPr>
          </a:p>
        </p:txBody>
      </p:sp>
    </p:spTree>
    <p:extLst>
      <p:ext uri="{BB962C8B-B14F-4D97-AF65-F5344CB8AC3E}">
        <p14:creationId xmlns:p14="http://schemas.microsoft.com/office/powerpoint/2010/main" val="4210046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97B6-DEB1-A21F-8301-9CC3F59E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301397-E4C0-59A9-739B-7FB15C598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3563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749</ep:Words>
  <ep:PresentationFormat>와이드스크린</ep:PresentationFormat>
  <ep:Paragraphs>46</ep:Paragraphs>
  <ep:Slides>6</ep:Slides>
  <ep:Notes>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2025-07-16T08:36:16.000</dcterms:created>
  <dc:creator>정우석/OPF 신규기획팀</dc:creator>
  <cp:lastModifiedBy>ghkdw</cp:lastModifiedBy>
  <dcterms:modified xsi:type="dcterms:W3CDTF">2026-08-18T14:49:13.942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