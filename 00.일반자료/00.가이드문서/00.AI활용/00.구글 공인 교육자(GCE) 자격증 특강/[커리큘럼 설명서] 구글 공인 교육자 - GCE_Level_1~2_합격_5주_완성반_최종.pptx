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10287000" cy="18288000"/>
  <p:embeddedFontLst>
    <p:embeddedFont>
      <p:font typeface="Noto Sans KR"/>
      <p:bold r:id="rId28"/>
    </p:embeddedFont>
    <p:embeddedFont>
      <p:font typeface="Nanum Myeongjo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otoSansKR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anumMyeongj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NanumMyeongj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57ebb255_0_631:notes"/>
          <p:cNvSpPr/>
          <p:nvPr>
            <p:ph idx="2" type="sldImg"/>
          </p:nvPr>
        </p:nvSpPr>
        <p:spPr>
          <a:xfrm>
            <a:off x="571950" y="1371600"/>
            <a:ext cx="91440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57ebb255_0_631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안녕하세요, 여러분. 반갑습니다.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오늘 여러분의 디지털 여정에 확실한 이정표를 세워드릴, AI 코치 한코치입니다.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귀한 시간 내어 이 자리에 오신 만큼, 오늘 짧은 특강이 끝날 땐 여러분 손에 확실한 '무기' 하나씩 쥐여드리겠습니다."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588657b0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5588657b0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"제 소개를 짧게 할까요.</a:t>
            </a:r>
            <a:br>
              <a:rPr lang="en-US"/>
            </a:br>
            <a:r>
              <a:rPr lang="en-US"/>
              <a:t> 저는 구글이 인증한 교육자이자, 시니어와 초보자분들을 위한 AI 커리큘럼을 만드는 사람입니다.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제 모토는 딱 하나예요. '모두가 학생이고, 누구나 선생님이 될 수 있다.'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여러분도 오늘부터 저와 함께라면, 누군가의 훌륭한 디지털 선생님이 되실 수 있습니다."</a:t>
            </a:r>
            <a:endParaRPr/>
          </a:p>
        </p:txBody>
      </p:sp>
      <p:sp>
        <p:nvSpPr>
          <p:cNvPr id="64" name="Google Shape;64;g3f5588657b0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557ebb255_0_5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f557ebb255_0_5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이런 말이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'전문가가 되어야 책을 쓸 수 있다'고요.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아니, 정확하게 말하면 틀렸습니다. 책을 쓰면서 진짜 전문가가 되는 겁니다.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일단 시작하고 부딪혀야 내 것이 되거든요."</a:t>
            </a:r>
            <a:endParaRPr/>
          </a:p>
        </p:txBody>
      </p:sp>
      <p:sp>
        <p:nvSpPr>
          <p:cNvPr id="85" name="Google Shape;85;g3f557ebb255_0_5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57ebb255_0_5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f557ebb255_0_5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"자격증도 똑같습니다.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'내가 누굴 가르칠 실력이 되나? 교육자가 되어야 자격증을 따지.' 생각해보면 이것도 반대예요.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자격증을 따는 그 맹렬한 과정 속에서, 비로소 남을 가르칠 수 있는 단단한 교육자가 탄생하는 겁니다."</a:t>
            </a:r>
            <a:endParaRPr/>
          </a:p>
        </p:txBody>
      </p:sp>
      <p:sp>
        <p:nvSpPr>
          <p:cNvPr id="93" name="Google Shape;93;g3f557ebb255_0_5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57ebb25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557ebb25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5: 커리큘럼 오버뷰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"그래서 준비했습니다.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2026년 8월, 여러분의 올여름 가장 잘한 선택이 될 프로젝트.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'구글 공인 교육자 합격 5주 완성반'입니다.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딱 5주입니다. 매주 일요일, 잠실역 한국열린사이버대학교 강남학습관에 오셔서 저랑 딱 5번만 만나시면 됩니다.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그럼 이번 여름이 끝날 때, 여러분 이름 옆에 구글 자격증이 붙어 있을 겁니다."</a:t>
            </a:r>
            <a:endParaRPr/>
          </a:p>
        </p:txBody>
      </p:sp>
      <p:sp>
        <p:nvSpPr>
          <p:cNvPr id="101" name="Google Shape;101;g3f557ebb25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57ebb255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f557ebb255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6: GCE란?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"그런데 '구글 공인 교육자(GCE)'가 대체 뭐길래 이러느냐?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쉽게 말해 구글이 공식적으로 인정하는 에듀테크 면허증입니다.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'이 사람은 클래스룸, 드라이브 같은 구글 도구들을 자유자재로 다루고 수업을 이끌 수 있다'라고 구글이 직접 보증 서주는 거죠. 글로벌 표준입니다."</a:t>
            </a:r>
            <a:endParaRPr/>
          </a:p>
        </p:txBody>
      </p:sp>
      <p:sp>
        <p:nvSpPr>
          <p:cNvPr id="133" name="Google Shape;133;g3f557ebb255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57ebb255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557ebb255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7: 강사의 약속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"이런 자격증 과정, 시중에 꽤 있습니다. 하지만 저는 다르게 약속드립니다.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가르치고 끝내지 않습니다.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5주 차 마지막 날, 저도 여러분과 같은 날, 같은 공간에서 똑같은 시험을 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여러분을 시험장에 밀어 넣고 도망가지 않겠다는, 저만의 가장 정직한 약속입니다."</a:t>
            </a:r>
            <a:endParaRPr/>
          </a:p>
        </p:txBody>
      </p:sp>
      <p:sp>
        <p:nvSpPr>
          <p:cNvPr id="152" name="Google Shape;152;g3f557ebb255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8: GCE 로드맵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"자격증에도 층위가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오늘 우리가 목표로 하는 건 가장 뼈대가 되는 레벨 1과 2입니다.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이건 위로 올라가는 경쟁이 아니에요. 내 디지털 역량의 든든한 기초 공사를 하는 겁니다.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 기초가 있어야 나중에 AI를 활용하든, 코치가 되든 길이 열립니다."</a:t>
            </a:r>
            <a:endParaRPr/>
          </a:p>
        </p:txBody>
      </p:sp>
      <p:sp>
        <p:nvSpPr>
          <p:cNvPr id="165" name="Google Shape;165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588657b0_1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f5588657b0_1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9: 시장의 진실 (문제점 1)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"음... 여기서 진짜 많이들 무너지십니다.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시험은 단순한 '지식 암기' 시험이 아니거든요.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객관식은 절반도 안 됩니다. 나머지는 실제 구글 환경에서 직접 클릭하고 문서를 만드는 '실습 시험'입니다.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혼자 독학하시던 분들이 이 삼중 벽에서 다 튕겨 나갑니다."</a:t>
            </a:r>
            <a:endParaRPr/>
          </a:p>
        </p:txBody>
      </p:sp>
      <p:sp>
        <p:nvSpPr>
          <p:cNvPr id="192" name="Google Shape;192;g3f5588657b0_1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10: 통증 진단 (문제점 2)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"혼자 하면 왜 힘드냐?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첫째, 시험 접수 자체가 미로입니다.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둘째, 실습은 머리가 아니라 '손'이 기억해야 하는데 유튜브만 봐서는 손이 훈련되지 않아요.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셋째, 알아도 시간이 모자랍니다. 그래서 멘붕이 오는 거죠."</a:t>
            </a:r>
            <a:endParaRPr/>
          </a:p>
        </p:txBody>
      </p:sp>
      <p:sp>
        <p:nvSpPr>
          <p:cNvPr id="223" name="Google Shape;2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11: 3대 차별점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"그 세 가지 벽을 부수기 위해 우리 커리큘럼은 세 가지 무기를 준비했습니다.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동(同), 강사가 동석합니다.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석(析), 기출을 완벽히 쪼개서 분석했습니다.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연(練), 눈이 아니라 손을 훈련시킵니다. 하나씩 자세히 볼까요?"</a:t>
            </a:r>
            <a:endParaRPr/>
          </a:p>
        </p:txBody>
      </p:sp>
      <p:sp>
        <p:nvSpPr>
          <p:cNvPr id="241" name="Google Shape;2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12: USP 1 (동행)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"첫 번째, 동행입니다.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8월 30일. 강사인 저도 여러분 옆에 앉아서 같이 시험을 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가르친 그대로, 그 자리에서 저도 증명하는 거죠.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옆에 제가 있다는 것만으로도 시험 당일의 그 엄청난 긴장감이 절반으로 줄어들 겁니다."</a:t>
            </a:r>
            <a:endParaRPr/>
          </a:p>
        </p:txBody>
      </p:sp>
      <p:sp>
        <p:nvSpPr>
          <p:cNvPr id="269" name="Google Shape;2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13: USP 2 (분석)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"두 번째, 분석입니다. 감으로 공부하지 마세요.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구글 시험은 출제 비중이 정해져 있습니다.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커뮤니케이션 35%, 협업 32%... 우리는 딱 이 비중대로 시간을 씁니다.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남는 시간엔 헷갈리는 부분만 암기표로 딱딱 잘라냅니다. 효율의 극대화죠."</a:t>
            </a:r>
            <a:endParaRPr/>
          </a:p>
        </p:txBody>
      </p:sp>
      <p:sp>
        <p:nvSpPr>
          <p:cNvPr id="290" name="Google Shape;2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14: USP 3 (훈련)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"세 번째, 훈련입니다. 실습은 시간제한이 있는 타임어택입니다.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지시문을 보자마자 3초 안에 손이 움직여야 해요.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우리는 매주 실제 환경과 똑같이 랩을 세팅하고 타임어택을 2회전씩 돌립니다.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시험 당일, 여러분의 손은 절대 얼어붙지 않을 겁니다."</a:t>
            </a:r>
            <a:endParaRPr/>
          </a:p>
        </p:txBody>
      </p:sp>
      <p:sp>
        <p:nvSpPr>
          <p:cNvPr id="325" name="Google Shape;3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557ebb255_0_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f557ebb255_0_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15: 5주 여정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"여정은 이렇습니다.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8월 2일부터 OT와 기초 세팅을 시작으로,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클래스룸 마스터, 폼과 시트 마스터, 4주 차 풀 모의고사,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그리고 마지막 8월 30일 대망의 실전 응시까지.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방학 리듬에 딱 맞춘 완벽한 5걸음입니다."</a:t>
            </a:r>
            <a:endParaRPr/>
          </a:p>
        </p:txBody>
      </p:sp>
      <p:sp>
        <p:nvSpPr>
          <p:cNvPr id="354" name="Google Shape;354;g3f557ebb255_0_3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16: 변화된 미래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"이 5주가 지나고 나면 여러분의 9월은 어떻게 바뀔까요?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예전엔 '아, 구글 조금 쓸 줄 알아요...' 라며 말끝을 흐렸다면,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8월 30일 이후엔 이렇게 말하게 될 겁니다. '저, 구글 공인 교육자입니다.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' 자기소개의 무게가 완전히 달라지는 거죠."</a:t>
            </a:r>
            <a:endParaRPr/>
          </a:p>
        </p:txBody>
      </p:sp>
      <p:sp>
        <p:nvSpPr>
          <p:cNvPr id="397" name="Google Shape;3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17: 제공 자료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"빈손으로 훈련시킬 순 없죠.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다섯 개의 강력한 무기를 드립니다.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상황별 정답 암기표, 당일 체크리스트, 지시문 변환 카드, 전 회차 문제 은행, 그리고 합격 이후를 함께할 커뮤니티까지.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무기들은 수업 첫날 다 쥐여드리겠습니다."</a:t>
            </a:r>
            <a:endParaRPr/>
          </a:p>
        </p:txBody>
      </p:sp>
      <p:sp>
        <p:nvSpPr>
          <p:cNvPr id="416" name="Google Shape;4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"디지털이 낯설어도 걱정하지 마세요.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저와 2명의 특급 조교가 오프라인 현장에서 찰싹 붙어서 밀착 케어합니다.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시험 접속 세팅부터 멘탈 관리까지 저희가 다 책임집니다.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여러분은 짝꿍과 함께 재미있게 미션만 따라오시면 됩니다."</a:t>
            </a:r>
            <a:endParaRPr/>
          </a:p>
        </p:txBody>
      </p:sp>
      <p:sp>
        <p:nvSpPr>
          <p:cNvPr id="450" name="Google Shape;4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95bd3131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f95bd3131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20: 투자 가치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"비용 안내입니다.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이게 얼마의 가치일까요? 하면서 시간 끌지 않을게요.  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1등급 20만 원, 2등급 30만 원.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하지만 이왕 시작하신 거 한 번에 끝내야죠. 두 가지를 하루에 다 마스터하는 '올데이 패스'는 10만 원 할인된 40만 원입니다.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이건 단순한 지출이 아니라, 여러분의 수십 시간을 아끼는 투자입니다." </a:t>
            </a:r>
            <a:endParaRPr/>
          </a:p>
        </p:txBody>
      </p:sp>
      <p:sp>
        <p:nvSpPr>
          <p:cNvPr id="477" name="Google Shape;477;g3f95bd3131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20: 투자 가치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"비용 안내입니다.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이게 얼마의 가치일까요? 하면서 시간 끌지 않을게요.  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1등급 20만 원, 2등급 30만 원.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하지만 이왕 시작하신 거 한 번에 끝내야죠. 두 가지를 하루에 다 마스터하는 '올데이 패스'는 10만 원 할인된 40만 원입니다.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이건 단순한 지출이 아니라, 여러분의 수십 시간을 아끼는 투자입니다." </a:t>
            </a:r>
            <a:endParaRPr/>
          </a:p>
        </p:txBody>
      </p:sp>
      <p:sp>
        <p:nvSpPr>
          <p:cNvPr id="510" name="Google Shape;51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21: 지금 결정해야 하는 이유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"정말 진심으로 말씀드리는데, '다음에 할게요'라는 말은 생각보다 아주 비싼 말입니다.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9월 개학하면 바빠서 못 합니다. 혼자 독학하다 떨어지면 재응시료가 또 듭니다.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무엇보다 올여름 한시적으로 주어지는 무료 응시 혜택!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골든 타임을 절대 놓치지 마세요."</a:t>
            </a:r>
            <a:endParaRPr/>
          </a:p>
        </p:txBody>
      </p:sp>
      <p:sp>
        <p:nvSpPr>
          <p:cNvPr id="544" name="Google Shape;54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557ebb255_0_4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f557ebb255_0_4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22: 마무리 및 신청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"시작이 반이라고 했습니다.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아니, 오늘 결심하시면 90%는 끝난 겁니다.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나머지 10%는 함께 채우는 겁니다.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지금 바로 화면의 링크를 통해 명단에 이름을 올려주세요.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8월 2일, 강남학습관에서 설레는 마음으로 기다리겠습니다. 감사합니다!"</a:t>
            </a:r>
            <a:endParaRPr/>
          </a:p>
        </p:txBody>
      </p:sp>
      <p:sp>
        <p:nvSpPr>
          <p:cNvPr id="572" name="Google Shape;572;g3f557ebb255_0_4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1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4" name="Google Shape;44;p11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forms.gle/DxTUXRsK4thDjLyD7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Relationship Id="rId5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Relationship Id="rId5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Relationship Id="rId4" Type="http://schemas.openxmlformats.org/officeDocument/2006/relationships/hyperlink" Target="https://forms.gle/DxTUXRsK4thDjLyD7" TargetMode="External"/><Relationship Id="rId9" Type="http://schemas.openxmlformats.org/officeDocument/2006/relationships/image" Target="../media/image35.png"/><Relationship Id="rId5" Type="http://schemas.openxmlformats.org/officeDocument/2006/relationships/hyperlink" Target="https://forms.gle/DxTUXRsK4thDjLyD7" TargetMode="External"/><Relationship Id="rId6" Type="http://schemas.openxmlformats.org/officeDocument/2006/relationships/hyperlink" Target="https://forms.gle/DxTUXRsK4thDjLyD7" TargetMode="External"/><Relationship Id="rId7" Type="http://schemas.openxmlformats.org/officeDocument/2006/relationships/hyperlink" Target="https://forms.gle/DxTUXRsK4thDjLyD7" TargetMode="External"/><Relationship Id="rId8" Type="http://schemas.openxmlformats.org/officeDocument/2006/relationships/hyperlink" Target="https://forms.gle/DxTUXRsK4thDjLyD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/>
        </p:nvSpPr>
        <p:spPr>
          <a:xfrm>
            <a:off x="1" y="2081025"/>
            <a:ext cx="18288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0">
                <a:solidFill>
                  <a:schemeClr val="lt1"/>
                </a:solidFill>
              </a:rPr>
              <a:t>안녕하세요. </a:t>
            </a:r>
            <a:r>
              <a:rPr b="1" lang="en-US" sz="7600">
                <a:solidFill>
                  <a:srgbClr val="00FFFF"/>
                </a:solidFill>
              </a:rPr>
              <a:t>한코치</a:t>
            </a:r>
            <a:r>
              <a:rPr b="1" lang="en-US" sz="7600">
                <a:solidFill>
                  <a:schemeClr val="lt1"/>
                </a:solidFill>
              </a:rPr>
              <a:t> 입니다.</a:t>
            </a:r>
            <a:endParaRPr b="1" sz="76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6"/>
          <p:cNvGrpSpPr/>
          <p:nvPr/>
        </p:nvGrpSpPr>
        <p:grpSpPr>
          <a:xfrm>
            <a:off x="1143000" y="218678"/>
            <a:ext cx="16119150" cy="8893582"/>
            <a:chOff x="1143000" y="-130432"/>
            <a:chExt cx="16119150" cy="8893582"/>
          </a:xfrm>
        </p:grpSpPr>
        <p:sp>
          <p:nvSpPr>
            <p:cNvPr id="67" name="Google Shape;67;p16"/>
            <p:cNvSpPr/>
            <p:nvPr/>
          </p:nvSpPr>
          <p:spPr>
            <a:xfrm>
              <a:off x="1143000" y="1524000"/>
              <a:ext cx="4762500" cy="7239000"/>
            </a:xfrm>
            <a:prstGeom prst="roundRect">
              <a:avLst>
                <a:gd fmla="val 4800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68" name="Google Shape;68;p16"/>
            <p:cNvSpPr txBox="1"/>
            <p:nvPr/>
          </p:nvSpPr>
          <p:spPr>
            <a:xfrm>
              <a:off x="1143000" y="1524000"/>
              <a:ext cx="4762500" cy="72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PORTRAIT</a:t>
              </a:r>
              <a:endParaRPr b="1" sz="19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실제 사진 삽입 영역</a:t>
              </a:r>
              <a:endParaRPr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69" name="Google Shape;69;p16"/>
            <p:cNvGrpSpPr/>
            <p:nvPr/>
          </p:nvGrpSpPr>
          <p:grpSpPr>
            <a:xfrm>
              <a:off x="6477000" y="1524000"/>
              <a:ext cx="7518682" cy="762093"/>
              <a:chOff x="0" y="0"/>
              <a:chExt cx="7518682" cy="762093"/>
            </a:xfrm>
          </p:grpSpPr>
          <p:sp>
            <p:nvSpPr>
              <p:cNvPr id="70" name="Google Shape;70;p16"/>
              <p:cNvSpPr/>
              <p:nvPr/>
            </p:nvSpPr>
            <p:spPr>
              <a:xfrm>
                <a:off x="0" y="0"/>
                <a:ext cx="5264100" cy="7080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 cap="flat" cmpd="sng" w="1430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71" name="Google Shape;71;p16"/>
              <p:cNvSpPr/>
              <p:nvPr/>
            </p:nvSpPr>
            <p:spPr>
              <a:xfrm>
                <a:off x="209550" y="152400"/>
                <a:ext cx="152400" cy="1524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72" name="Google Shape;72;p16"/>
              <p:cNvSpPr/>
              <p:nvPr/>
            </p:nvSpPr>
            <p:spPr>
              <a:xfrm>
                <a:off x="438150" y="152400"/>
                <a:ext cx="152400" cy="152400"/>
              </a:xfrm>
              <a:prstGeom prst="ellipse">
                <a:avLst/>
              </a:prstGeom>
              <a:solidFill>
                <a:srgbClr val="EA433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73" name="Google Shape;73;p16"/>
              <p:cNvSpPr/>
              <p:nvPr/>
            </p:nvSpPr>
            <p:spPr>
              <a:xfrm>
                <a:off x="666750" y="152400"/>
                <a:ext cx="152400" cy="152400"/>
              </a:xfrm>
              <a:prstGeom prst="ellipse">
                <a:avLst/>
              </a:prstGeom>
              <a:solidFill>
                <a:srgbClr val="FBBC0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74" name="Google Shape;74;p16"/>
              <p:cNvSpPr/>
              <p:nvPr/>
            </p:nvSpPr>
            <p:spPr>
              <a:xfrm>
                <a:off x="895350" y="152400"/>
                <a:ext cx="152400" cy="152400"/>
              </a:xfrm>
              <a:prstGeom prst="ellipse">
                <a:avLst/>
              </a:prstGeom>
              <a:solidFill>
                <a:srgbClr val="34A85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75" name="Google Shape;75;p16"/>
              <p:cNvSpPr txBox="1"/>
              <p:nvPr/>
            </p:nvSpPr>
            <p:spPr>
              <a:xfrm>
                <a:off x="1179082" y="54093"/>
                <a:ext cx="63396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rgbClr val="E2E8F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Google Certified Educator</a:t>
                </a:r>
                <a:endParaRPr b="1" sz="25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76" name="Google Shape;76;p16"/>
            <p:cNvSpPr txBox="1"/>
            <p:nvPr/>
          </p:nvSpPr>
          <p:spPr>
            <a:xfrm>
              <a:off x="6477000" y="2286000"/>
              <a:ext cx="10668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5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Google</a:t>
              </a:r>
              <a:r>
                <a:rPr b="0" lang="en-US" sz="55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 인증한,</a:t>
              </a:r>
              <a:br>
                <a:rPr b="0" lang="en-US" sz="55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lang="en-US" sz="55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시니어를 위한 </a:t>
              </a:r>
              <a:r>
                <a:rPr b="0" lang="en-US" sz="5500">
                  <a:solidFill>
                    <a:srgbClr val="FBBC0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코치</a:t>
              </a:r>
              <a:r>
                <a:rPr b="0" lang="en-US" sz="55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  <a:endParaRPr b="0" sz="5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77" name="Google Shape;77;p16"/>
            <p:cNvGrpSpPr/>
            <p:nvPr/>
          </p:nvGrpSpPr>
          <p:grpSpPr>
            <a:xfrm>
              <a:off x="6477000" y="-130432"/>
              <a:ext cx="10785150" cy="4674007"/>
              <a:chOff x="0" y="-4654807"/>
              <a:chExt cx="10785150" cy="4674007"/>
            </a:xfrm>
          </p:grpSpPr>
          <p:sp>
            <p:nvSpPr>
              <p:cNvPr id="78" name="Google Shape;78;p16"/>
              <p:cNvSpPr/>
              <p:nvPr/>
            </p:nvSpPr>
            <p:spPr>
              <a:xfrm>
                <a:off x="0" y="0"/>
                <a:ext cx="10668000" cy="19200"/>
              </a:xfrm>
              <a:prstGeom prst="rect">
                <a:avLst/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79" name="Google Shape;79;p16"/>
              <p:cNvSpPr txBox="1"/>
              <p:nvPr/>
            </p:nvSpPr>
            <p:spPr>
              <a:xfrm>
                <a:off x="209550" y="-4654807"/>
                <a:ext cx="10575600" cy="10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5700">
                    <a:solidFill>
                      <a:srgbClr val="FFFF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모토: 모두가 학생, </a:t>
                </a:r>
                <a:r>
                  <a:rPr i="1" lang="en-US" sz="5700">
                    <a:solidFill>
                      <a:srgbClr val="00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누구나 선생님</a:t>
                </a:r>
                <a:endParaRPr i="1" sz="5700">
                  <a:solidFill>
                    <a:srgbClr val="FFFF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80" name="Google Shape;80;p16"/>
            <p:cNvSpPr txBox="1"/>
            <p:nvPr/>
          </p:nvSpPr>
          <p:spPr>
            <a:xfrm>
              <a:off x="6477000" y="5429250"/>
              <a:ext cx="1066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한영운 </a:t>
              </a:r>
              <a:r>
                <a:rPr b="0" lang="en-US" sz="36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Han Young-un</a:t>
              </a:r>
              <a:endParaRPr b="0" sz="36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200">
                  <a:solidFill>
                    <a:srgbClr val="FFFF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■ </a:t>
              </a:r>
              <a:r>
                <a:rPr lang="en-US" sz="3200">
                  <a:solidFill>
                    <a:srgbClr val="FFFF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거북이 커뮤니티 - 시니어 AI 학습공동체 운영자</a:t>
              </a:r>
              <a:endParaRPr sz="3600">
                <a:solidFill>
                  <a:srgbClr val="FFFF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F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■ </a:t>
              </a:r>
              <a:r>
                <a:rPr lang="en-US" sz="3200">
                  <a:solidFill>
                    <a:srgbClr val="FFFF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한국열린사이버대학교 - 인공지능융합학과 연구교수</a:t>
              </a:r>
              <a:endParaRPr sz="3200">
                <a:solidFill>
                  <a:srgbClr val="FFFF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BBC0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■ </a:t>
              </a:r>
              <a:r>
                <a:rPr lang="en-US" sz="32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(주)와토코리아 대표이사 - </a:t>
              </a:r>
              <a:r>
                <a:rPr lang="en-US" sz="32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9년차 CEO</a:t>
              </a:r>
              <a:r>
                <a:rPr lang="en-US" sz="32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32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BBC0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■ </a:t>
              </a:r>
              <a:r>
                <a:rPr lang="en-US" sz="32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(사)우리가걷는다 이사장 - “</a:t>
              </a:r>
              <a:r>
                <a:rPr lang="en-US" sz="32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백두대간 대장정"</a:t>
              </a:r>
              <a:endParaRPr sz="32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2250"/>
                </a:spcAft>
                <a:buNone/>
              </a:pPr>
              <a:r>
                <a:rPr b="0" lang="en-US" sz="3200">
                  <a:solidFill>
                    <a:srgbClr val="FBBC0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■ </a:t>
              </a:r>
              <a:r>
                <a:rPr lang="en-US" sz="32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(주)제일기획 - </a:t>
              </a:r>
              <a:r>
                <a:rPr lang="en-US" sz="32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커뮤니티 캠페인 리더 - “대학생 국토대장정"</a:t>
              </a:r>
              <a:endParaRPr sz="24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pic>
        <p:nvPicPr>
          <p:cNvPr id="81" name="Google Shape;81;p16" title="한영운_증명사진_프로필 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564" y="951675"/>
            <a:ext cx="6128251" cy="857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remium, moody, high-end desk scene with a sleek open journal, an elegant pen, warm soft side lighting, dark gray and deep charcoal background, clean minimal design, professional photography" id="87" name="Google Shape;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215">
              <a:alpha val="7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0" lIns="952500" spcFirstLastPara="1" rIns="952500" wrap="square" tIns="952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00">
                <a:solidFill>
                  <a:srgbClr val="E8EAED"/>
                </a:solidFill>
                <a:latin typeface="Noto Sans KR"/>
                <a:ea typeface="Noto Sans KR"/>
                <a:cs typeface="Noto Sans KR"/>
                <a:sym typeface="Noto Sans KR"/>
              </a:rPr>
              <a:t>“ 전문가가 책을 쓰는 것이 아니라, ”</a:t>
            </a:r>
            <a:endParaRPr b="0" sz="5200">
              <a:solidFill>
                <a:srgbClr val="E8EAE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US" sz="64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책을 쓰면서</a:t>
            </a:r>
            <a:r>
              <a:rPr b="0" lang="en-US" sz="6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0" lang="en-US" sz="6400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전문가</a:t>
            </a:r>
            <a:r>
              <a:rPr b="0" lang="en-US" sz="6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가 되는 것이다.</a:t>
            </a:r>
            <a:endParaRPr b="0" sz="6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 rotWithShape="1">
          <a:blip r:embed="rId4">
            <a:alphaModFix/>
          </a:blip>
          <a:srcRect b="0" l="387" r="3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215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0" lIns="952500" spcFirstLastPara="1" rIns="952500" wrap="square" tIns="952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00">
                <a:solidFill>
                  <a:srgbClr val="E8EAED"/>
                </a:solidFill>
                <a:latin typeface="Noto Sans KR"/>
                <a:ea typeface="Noto Sans KR"/>
                <a:cs typeface="Noto Sans KR"/>
                <a:sym typeface="Noto Sans KR"/>
              </a:rPr>
              <a:t>“ 교육자가 자격증을 따는 것이 아니라, ”</a:t>
            </a:r>
            <a:endParaRPr b="0" sz="5200">
              <a:solidFill>
                <a:srgbClr val="E8EAE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1688"/>
              </a:spcBef>
              <a:spcAft>
                <a:spcPts val="0"/>
              </a:spcAft>
              <a:buNone/>
            </a:pPr>
            <a:r>
              <a:rPr b="0" lang="en-US" sz="64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자격증을 따면서</a:t>
            </a:r>
            <a:r>
              <a:rPr b="0" lang="en-US" sz="5200">
                <a:solidFill>
                  <a:srgbClr val="E8EAED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0" lang="en-US" sz="6400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교육자</a:t>
            </a:r>
            <a:r>
              <a:rPr b="0" lang="en-US" sz="6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가 되는 것이다.</a:t>
            </a:r>
            <a:endParaRPr b="0" sz="5200">
              <a:solidFill>
                <a:srgbClr val="E8EAE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914400" y="875704"/>
            <a:ext cx="104775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2026년 8월 여름, 가장 잘한 선택</a:t>
            </a:r>
            <a:endParaRPr b="0" sz="18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570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{구글 공인 교육자} </a:t>
            </a:r>
            <a:r>
              <a:rPr b="0" lang="en-US" sz="57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자격증 취득!</a:t>
            </a:r>
            <a:endParaRPr b="0" sz="570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1~2 </a:t>
            </a:r>
            <a:r>
              <a:rPr b="0" lang="en-US" sz="20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합격 패키지</a:t>
            </a:r>
            <a:endParaRPr b="1" sz="32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25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• 오프라인 합격 5주 완성반 · 선발 20명 · 2026 여름방학 (8월)</a:t>
            </a:r>
            <a:endParaRPr b="0" sz="25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• AI 거북이 커뮤니티 </a:t>
            </a:r>
            <a:r>
              <a:rPr lang="en-US" sz="23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X</a:t>
            </a:r>
            <a:r>
              <a:rPr b="0" lang="en-US" sz="23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 한국열린사이버대학교 </a:t>
            </a:r>
            <a:r>
              <a:rPr lang="en-US" sz="23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= </a:t>
            </a:r>
            <a:r>
              <a:rPr b="0" lang="en-US" sz="23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강남학습관 (잠실역 10번 출구</a:t>
            </a:r>
            <a:r>
              <a:rPr lang="en-US" sz="23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0" sz="23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04" name="Google Shape;104;p19"/>
          <p:cNvGrpSpPr/>
          <p:nvPr/>
        </p:nvGrpSpPr>
        <p:grpSpPr>
          <a:xfrm>
            <a:off x="12001500" y="857250"/>
            <a:ext cx="5372100" cy="2667000"/>
            <a:chOff x="0" y="0"/>
            <a:chExt cx="5372100" cy="2667000"/>
          </a:xfrm>
        </p:grpSpPr>
        <p:sp>
          <p:nvSpPr>
            <p:cNvPr id="105" name="Google Shape;105;p19"/>
            <p:cNvSpPr/>
            <p:nvPr/>
          </p:nvSpPr>
          <p:spPr>
            <a:xfrm>
              <a:off x="0" y="0"/>
              <a:ext cx="53721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9050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9"/>
            <p:cNvSpPr txBox="1"/>
            <p:nvPr/>
          </p:nvSpPr>
          <p:spPr>
            <a:xfrm>
              <a:off x="285750" y="285750"/>
              <a:ext cx="48006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5F6368"/>
                  </a:solidFill>
                  <a:latin typeface="Nanum Myeongjo"/>
                  <a:ea typeface="Nanum Myeongjo"/>
                  <a:cs typeface="Nanum Myeongjo"/>
                  <a:sym typeface="Nanum Myeongjo"/>
                </a:rPr>
                <a:t>모두가 학생</a:t>
              </a:r>
              <a:endParaRPr sz="3200">
                <a:solidFill>
                  <a:srgbClr val="5F6368"/>
                </a:solidFill>
                <a:latin typeface="Nanum Myeongjo"/>
                <a:ea typeface="Nanum Myeongjo"/>
                <a:cs typeface="Nanum Myeongjo"/>
                <a:sym typeface="Nanum Myeongjo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6000">
                  <a:solidFill>
                    <a:srgbClr val="1A73E8"/>
                  </a:solidFill>
                  <a:latin typeface="Nanum Myeongjo"/>
                  <a:ea typeface="Nanum Myeongjo"/>
                  <a:cs typeface="Nanum Myeongjo"/>
                  <a:sym typeface="Nanum Myeongjo"/>
                </a:rPr>
                <a:t>누구나 선생님</a:t>
              </a:r>
              <a:endParaRPr b="1" sz="6000">
                <a:solidFill>
                  <a:srgbClr val="1A73E8"/>
                </a:solidFill>
                <a:latin typeface="Nanum Myeongjo"/>
                <a:ea typeface="Nanum Myeongjo"/>
                <a:cs typeface="Nanum Myeongjo"/>
                <a:sym typeface="Nanum Myeongjo"/>
              </a:endParaRPr>
            </a:p>
          </p:txBody>
        </p:sp>
      </p:grpSp>
      <p:grpSp>
        <p:nvGrpSpPr>
          <p:cNvPr id="107" name="Google Shape;107;p19"/>
          <p:cNvGrpSpPr/>
          <p:nvPr/>
        </p:nvGrpSpPr>
        <p:grpSpPr>
          <a:xfrm>
            <a:off x="914400" y="4209454"/>
            <a:ext cx="16449600" cy="3810000"/>
            <a:chOff x="914400" y="4191000"/>
            <a:chExt cx="16449600" cy="3810000"/>
          </a:xfrm>
        </p:grpSpPr>
        <p:grpSp>
          <p:nvGrpSpPr>
            <p:cNvPr id="108" name="Google Shape;108;p19"/>
            <p:cNvGrpSpPr/>
            <p:nvPr/>
          </p:nvGrpSpPr>
          <p:grpSpPr>
            <a:xfrm>
              <a:off x="914400" y="4191000"/>
              <a:ext cx="3000300" cy="3810000"/>
              <a:chOff x="0" y="0"/>
              <a:chExt cx="3000300" cy="3810000"/>
            </a:xfrm>
          </p:grpSpPr>
          <p:sp>
            <p:nvSpPr>
              <p:cNvPr id="109" name="Google Shape;109;p19"/>
              <p:cNvSpPr/>
              <p:nvPr/>
            </p:nvSpPr>
            <p:spPr>
              <a:xfrm>
                <a:off x="0" y="0"/>
                <a:ext cx="3000300" cy="3810000"/>
              </a:xfrm>
              <a:prstGeom prst="roundRect">
                <a:avLst>
                  <a:gd fmla="val 5079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9"/>
              <p:cNvSpPr/>
              <p:nvPr/>
            </p:nvSpPr>
            <p:spPr>
              <a:xfrm>
                <a:off x="0" y="0"/>
                <a:ext cx="3000300" cy="114300"/>
              </a:xfrm>
              <a:prstGeom prst="roundRect">
                <a:avLst>
                  <a:gd fmla="val 50000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9"/>
              <p:cNvSpPr txBox="1"/>
              <p:nvPr/>
            </p:nvSpPr>
            <p:spPr>
              <a:xfrm>
                <a:off x="228600" y="285750"/>
                <a:ext cx="25431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700">
                    <a:solidFill>
                      <a:srgbClr val="4285F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주1</a:t>
                </a:r>
                <a:endParaRPr b="0" sz="27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8월 2일 (일)</a:t>
                </a:r>
                <a:endParaRPr b="0" sz="17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-US" sz="2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시험 구조 완전 이해</a:t>
                </a:r>
                <a:endParaRPr b="1" sz="2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Classroom 핵심 기초 이해 및 학습 환경 셋업</a:t>
                </a:r>
                <a:endParaRPr b="0" sz="17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12" name="Google Shape;112;p19"/>
            <p:cNvGrpSpPr/>
            <p:nvPr/>
          </p:nvGrpSpPr>
          <p:grpSpPr>
            <a:xfrm>
              <a:off x="4276725" y="4191000"/>
              <a:ext cx="3000300" cy="3810000"/>
              <a:chOff x="0" y="0"/>
              <a:chExt cx="3000300" cy="3810000"/>
            </a:xfrm>
          </p:grpSpPr>
          <p:sp>
            <p:nvSpPr>
              <p:cNvPr id="113" name="Google Shape;113;p19"/>
              <p:cNvSpPr/>
              <p:nvPr/>
            </p:nvSpPr>
            <p:spPr>
              <a:xfrm>
                <a:off x="0" y="0"/>
                <a:ext cx="3000300" cy="3810000"/>
              </a:xfrm>
              <a:prstGeom prst="roundRect">
                <a:avLst>
                  <a:gd fmla="val 5079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9"/>
              <p:cNvSpPr/>
              <p:nvPr/>
            </p:nvSpPr>
            <p:spPr>
              <a:xfrm>
                <a:off x="0" y="0"/>
                <a:ext cx="3000300" cy="114300"/>
              </a:xfrm>
              <a:prstGeom prst="roundRect">
                <a:avLst>
                  <a:gd fmla="val 50000" name="adj"/>
                </a:avLst>
              </a:prstGeom>
              <a:solidFill>
                <a:srgbClr val="EA433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9"/>
              <p:cNvSpPr txBox="1"/>
              <p:nvPr/>
            </p:nvSpPr>
            <p:spPr>
              <a:xfrm>
                <a:off x="228600" y="285750"/>
                <a:ext cx="25431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700">
                    <a:solidFill>
                      <a:srgbClr val="EA4335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주2</a:t>
                </a:r>
                <a:endParaRPr b="0" sz="2700">
                  <a:solidFill>
                    <a:srgbClr val="EA4335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8월 9일 (일)</a:t>
                </a:r>
                <a:endParaRPr b="0" sz="17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-US" sz="2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기출 시나리오 분석</a:t>
                </a:r>
                <a:endParaRPr b="1" sz="2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클래스룸 기출 시나리오 훈련 및 타임어택 2회전</a:t>
                </a:r>
                <a:endParaRPr b="0" sz="17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16" name="Google Shape;116;p19"/>
            <p:cNvGrpSpPr/>
            <p:nvPr/>
          </p:nvGrpSpPr>
          <p:grpSpPr>
            <a:xfrm>
              <a:off x="7639050" y="4191000"/>
              <a:ext cx="3000300" cy="3810000"/>
              <a:chOff x="0" y="0"/>
              <a:chExt cx="3000300" cy="3810000"/>
            </a:xfrm>
          </p:grpSpPr>
          <p:sp>
            <p:nvSpPr>
              <p:cNvPr id="117" name="Google Shape;117;p19"/>
              <p:cNvSpPr/>
              <p:nvPr/>
            </p:nvSpPr>
            <p:spPr>
              <a:xfrm>
                <a:off x="0" y="0"/>
                <a:ext cx="3000300" cy="3810000"/>
              </a:xfrm>
              <a:prstGeom prst="roundRect">
                <a:avLst>
                  <a:gd fmla="val 5079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9"/>
              <p:cNvSpPr/>
              <p:nvPr/>
            </p:nvSpPr>
            <p:spPr>
              <a:xfrm>
                <a:off x="0" y="0"/>
                <a:ext cx="3000300" cy="114300"/>
              </a:xfrm>
              <a:prstGeom prst="roundRect">
                <a:avLst>
                  <a:gd fmla="val 50000" name="adj"/>
                </a:avLst>
              </a:prstGeom>
              <a:solidFill>
                <a:srgbClr val="FBBC0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9"/>
              <p:cNvSpPr txBox="1"/>
              <p:nvPr/>
            </p:nvSpPr>
            <p:spPr>
              <a:xfrm>
                <a:off x="228600" y="285750"/>
                <a:ext cx="25431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700">
                    <a:solidFill>
                      <a:srgbClr val="FBBC0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주3</a:t>
                </a:r>
                <a:endParaRPr b="0" sz="2700">
                  <a:solidFill>
                    <a:srgbClr val="FBBC0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8월 16일 (일)</a:t>
                </a:r>
                <a:endParaRPr b="0" sz="17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-US" sz="2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자동 채점 &amp; 퀴즈</a:t>
                </a:r>
                <a:endParaRPr b="1" sz="2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실습 자동 채점 기반 집중 훈련 및 전 영역 퀴즈 마감</a:t>
                </a:r>
                <a:endParaRPr b="0" sz="17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20" name="Google Shape;120;p19"/>
            <p:cNvGrpSpPr/>
            <p:nvPr/>
          </p:nvGrpSpPr>
          <p:grpSpPr>
            <a:xfrm>
              <a:off x="11001375" y="4191000"/>
              <a:ext cx="3000300" cy="3810000"/>
              <a:chOff x="0" y="0"/>
              <a:chExt cx="3000300" cy="3810000"/>
            </a:xfrm>
          </p:grpSpPr>
          <p:sp>
            <p:nvSpPr>
              <p:cNvPr id="121" name="Google Shape;121;p19"/>
              <p:cNvSpPr/>
              <p:nvPr/>
            </p:nvSpPr>
            <p:spPr>
              <a:xfrm>
                <a:off x="0" y="0"/>
                <a:ext cx="3000300" cy="3810000"/>
              </a:xfrm>
              <a:prstGeom prst="roundRect">
                <a:avLst>
                  <a:gd fmla="val 5079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9"/>
              <p:cNvSpPr/>
              <p:nvPr/>
            </p:nvSpPr>
            <p:spPr>
              <a:xfrm>
                <a:off x="0" y="0"/>
                <a:ext cx="3000300" cy="114300"/>
              </a:xfrm>
              <a:prstGeom prst="roundRect">
                <a:avLst>
                  <a:gd fmla="val 50000" name="adj"/>
                </a:avLst>
              </a:prstGeom>
              <a:solidFill>
                <a:srgbClr val="34A85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9"/>
              <p:cNvSpPr txBox="1"/>
              <p:nvPr/>
            </p:nvSpPr>
            <p:spPr>
              <a:xfrm>
                <a:off x="228600" y="285750"/>
                <a:ext cx="25431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700">
                    <a:solidFill>
                      <a:srgbClr val="34A853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주4</a:t>
                </a:r>
                <a:endParaRPr b="0" sz="2700">
                  <a:solidFill>
                    <a:srgbClr val="34A853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8월 23일 (일)</a:t>
                </a:r>
                <a:endParaRPr b="0" sz="17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-US" sz="2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풀 모의고사 평가</a:t>
                </a:r>
                <a:endParaRPr b="1" sz="2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전체 범위 실전 모의고사 및 개인별 맞춤 취약점 진단</a:t>
                </a:r>
                <a:endParaRPr b="0" sz="17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24" name="Google Shape;124;p19"/>
            <p:cNvGrpSpPr/>
            <p:nvPr/>
          </p:nvGrpSpPr>
          <p:grpSpPr>
            <a:xfrm>
              <a:off x="14363700" y="4191000"/>
              <a:ext cx="3000300" cy="3810000"/>
              <a:chOff x="0" y="0"/>
              <a:chExt cx="3000300" cy="3810000"/>
            </a:xfrm>
          </p:grpSpPr>
          <p:sp>
            <p:nvSpPr>
              <p:cNvPr id="125" name="Google Shape;125;p19"/>
              <p:cNvSpPr/>
              <p:nvPr/>
            </p:nvSpPr>
            <p:spPr>
              <a:xfrm>
                <a:off x="0" y="0"/>
                <a:ext cx="3000300" cy="3810000"/>
              </a:xfrm>
              <a:prstGeom prst="roundRect">
                <a:avLst>
                  <a:gd fmla="val 5079" name="adj"/>
                </a:avLst>
              </a:prstGeom>
              <a:solidFill>
                <a:srgbClr val="202124"/>
              </a:solidFill>
              <a:ln cap="flat" cmpd="sng" w="19050">
                <a:solidFill>
                  <a:srgbClr val="20212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9"/>
              <p:cNvSpPr txBox="1"/>
              <p:nvPr/>
            </p:nvSpPr>
            <p:spPr>
              <a:xfrm>
                <a:off x="228600" y="285750"/>
                <a:ext cx="25431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주5</a:t>
                </a:r>
                <a:endParaRPr b="0" sz="2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9AA0A6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8월 30일 (일)</a:t>
                </a:r>
                <a:endParaRPr b="0" sz="1400">
                  <a:solidFill>
                    <a:srgbClr val="9AA0A6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실전 시험 응시</a:t>
                </a:r>
                <a:endParaRPr b="1" sz="1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9AA0A6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강사와 수강생이 함께 같은 공간에서 실전 응시</a:t>
                </a:r>
                <a:endParaRPr b="0" sz="1400">
                  <a:solidFill>
                    <a:srgbClr val="9AA0A6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127" name="Google Shape;127;p19"/>
          <p:cNvGrpSpPr/>
          <p:nvPr/>
        </p:nvGrpSpPr>
        <p:grpSpPr>
          <a:xfrm>
            <a:off x="914400" y="8382000"/>
            <a:ext cx="16459200" cy="1047900"/>
            <a:chOff x="0" y="0"/>
            <a:chExt cx="16459200" cy="1047900"/>
          </a:xfrm>
        </p:grpSpPr>
        <p:sp>
          <p:nvSpPr>
            <p:cNvPr id="128" name="Google Shape;128;p19"/>
            <p:cNvSpPr/>
            <p:nvPr/>
          </p:nvSpPr>
          <p:spPr>
            <a:xfrm>
              <a:off x="0" y="0"/>
              <a:ext cx="16459200" cy="1047900"/>
            </a:xfrm>
            <a:prstGeom prst="roundRect">
              <a:avLst>
                <a:gd fmla="val 14545" name="adj"/>
              </a:avLst>
            </a:prstGeom>
            <a:solidFill>
              <a:srgbClr val="E8F0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 txBox="1"/>
            <p:nvPr/>
          </p:nvSpPr>
          <p:spPr>
            <a:xfrm>
              <a:off x="304800" y="238125"/>
              <a:ext cx="1584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73E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지금 바로 지원하세요! </a:t>
              </a:r>
              <a:r>
                <a:rPr b="0" lang="en-US" sz="18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|</a:t>
              </a:r>
              <a:r>
                <a:rPr b="1" lang="en-US" sz="1800">
                  <a:solidFill>
                    <a:srgbClr val="1A73E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구글 폼 간편 신청: </a:t>
              </a:r>
              <a:r>
                <a:rPr b="1" lang="en-US" sz="1800" u="sng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https://forms.gle/DxTUXRsK4thDjLyD7</a:t>
              </a:r>
              <a:endParaRPr b="1" sz="180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b6362d4aa4b8f7d52c96b21d8d21bedb.png" id="135" name="Google Shape;135;p20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6230600" y="9144000"/>
            <a:ext cx="1143000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1143000" y="85725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구글 공인 교육자 · Google Certified Educator</a:t>
            </a:r>
            <a:endParaRPr b="1" sz="1600">
              <a:solidFill>
                <a:srgbClr val="4285F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1161454" y="1428750"/>
            <a:ext cx="1350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구글 공인 교육자(</a:t>
            </a:r>
            <a:r>
              <a:rPr b="0" lang="en-US" sz="42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GCE) 자격이란 무엇인가요?</a:t>
            </a:r>
            <a:endParaRPr b="0" sz="42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38" name="Google Shape;138;p20"/>
          <p:cNvGrpSpPr/>
          <p:nvPr/>
        </p:nvGrpSpPr>
        <p:grpSpPr>
          <a:xfrm>
            <a:off x="1143000" y="3238500"/>
            <a:ext cx="6858000" cy="4000500"/>
            <a:chOff x="0" y="0"/>
            <a:chExt cx="6858000" cy="4000500"/>
          </a:xfrm>
        </p:grpSpPr>
        <p:sp>
          <p:nvSpPr>
            <p:cNvPr id="139" name="Google Shape;139;p20"/>
            <p:cNvSpPr/>
            <p:nvPr/>
          </p:nvSpPr>
          <p:spPr>
            <a:xfrm>
              <a:off x="0" y="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0"/>
            <p:cNvSpPr txBox="1"/>
            <p:nvPr/>
          </p:nvSpPr>
          <p:spPr>
            <a:xfrm>
              <a:off x="381000" y="0"/>
              <a:ext cx="6477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교실의 변화를 이끄는 글로벌 표준</a:t>
              </a:r>
              <a:endParaRPr b="0" sz="24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3800">
                  <a:solidFill>
                    <a:srgbClr val="1A73E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에듀테크 전문 교사 자격</a:t>
              </a:r>
              <a:endParaRPr b="0" sz="380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구글의 교육용 도구를 실제 수업과 </a:t>
              </a:r>
              <a:endParaRPr b="0" sz="2300">
                <a:solidFill>
                  <a:srgbClr val="3C404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학습 설계에 효과적으로 활용할 수 있는 </a:t>
              </a:r>
              <a:endParaRPr b="0" sz="2300">
                <a:solidFill>
                  <a:srgbClr val="3C404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실무적 역량을 증명합니다.</a:t>
              </a:r>
              <a:br>
                <a:rPr b="0" lang="en-US" sz="23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br>
                <a:rPr b="0" lang="en-US" sz="23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lang="en-US" sz="23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구글이 공식 시험을 통해 직접 </a:t>
              </a:r>
              <a:endParaRPr b="0" sz="2300">
                <a:solidFill>
                  <a:srgbClr val="3C404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검증하고 인증하는 교사 및 교육자 대상의 </a:t>
              </a:r>
              <a:endParaRPr b="0" sz="2300">
                <a:solidFill>
                  <a:srgbClr val="3C404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공신력 있는 전문 자격증입니다.</a:t>
              </a:r>
              <a:endParaRPr b="0" sz="2300">
                <a:solidFill>
                  <a:srgbClr val="3C404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41" name="Google Shape;141;p20"/>
          <p:cNvGrpSpPr/>
          <p:nvPr/>
        </p:nvGrpSpPr>
        <p:grpSpPr>
          <a:xfrm>
            <a:off x="8572500" y="3238500"/>
            <a:ext cx="3595916" cy="5434813"/>
            <a:chOff x="0" y="0"/>
            <a:chExt cx="2667000" cy="4381500"/>
          </a:xfrm>
        </p:grpSpPr>
        <p:sp>
          <p:nvSpPr>
            <p:cNvPr id="142" name="Google Shape;142;p20"/>
            <p:cNvSpPr/>
            <p:nvPr/>
          </p:nvSpPr>
          <p:spPr>
            <a:xfrm>
              <a:off x="0" y="0"/>
              <a:ext cx="2667000" cy="4381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236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0" y="0"/>
              <a:ext cx="2667000" cy="1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44" name="Google Shape;144;p20"/>
            <p:cNvSpPr txBox="1"/>
            <p:nvPr/>
          </p:nvSpPr>
          <p:spPr>
            <a:xfrm>
              <a:off x="228600" y="381000"/>
              <a:ext cx="2209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>
                  <a:solidFill>
                    <a:srgbClr val="4285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laptop_chromebook</a:t>
              </a:r>
              <a:endParaRPr sz="5562">
                <a:solidFill>
                  <a:srgbClr val="4285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61"/>
                </a:spcBef>
                <a:spcAft>
                  <a:spcPts val="0"/>
                </a:spcAft>
                <a:buNone/>
              </a:pPr>
              <a:r>
                <a:rPr b="1" lang="en-US" sz="3081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수업·학습 설계</a:t>
              </a:r>
              <a:endParaRPr b="1" sz="3081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488"/>
                </a:spcBef>
                <a:spcAft>
                  <a:spcPts val="0"/>
                </a:spcAft>
                <a:buNone/>
              </a:pPr>
              <a:r>
                <a:rPr b="0" lang="en-US" sz="2337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클래스룸, 드라이브 등 구글 핵심 도구를 수업과 교육 과정에 최적으로 적용하고 설계하는 능력</a:t>
              </a:r>
              <a:endParaRPr b="0" sz="2337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45" name="Google Shape;145;p20"/>
          <p:cNvGrpSpPr/>
          <p:nvPr/>
        </p:nvGrpSpPr>
        <p:grpSpPr>
          <a:xfrm>
            <a:off x="13307947" y="3238500"/>
            <a:ext cx="3595916" cy="5434813"/>
            <a:chOff x="627737" y="0"/>
            <a:chExt cx="2667000" cy="4381500"/>
          </a:xfrm>
        </p:grpSpPr>
        <p:sp>
          <p:nvSpPr>
            <p:cNvPr id="146" name="Google Shape;146;p20"/>
            <p:cNvSpPr/>
            <p:nvPr/>
          </p:nvSpPr>
          <p:spPr>
            <a:xfrm>
              <a:off x="627737" y="0"/>
              <a:ext cx="2667000" cy="4381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236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627737" y="0"/>
              <a:ext cx="2667000" cy="114300"/>
            </a:xfrm>
            <a:prstGeom prst="roundRect">
              <a:avLst>
                <a:gd fmla="val 50000" name="adj"/>
              </a:avLst>
            </a:prstGeom>
            <a:solidFill>
              <a:srgbClr val="FBBC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48" name="Google Shape;148;p20"/>
            <p:cNvSpPr txBox="1"/>
            <p:nvPr/>
          </p:nvSpPr>
          <p:spPr>
            <a:xfrm>
              <a:off x="845730" y="381000"/>
              <a:ext cx="22098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>
                  <a:solidFill>
                    <a:srgbClr val="FBBC0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workspace_premium</a:t>
              </a:r>
              <a:endParaRPr sz="5562">
                <a:solidFill>
                  <a:srgbClr val="FBBC0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61"/>
                </a:spcBef>
                <a:spcAft>
                  <a:spcPts val="0"/>
                </a:spcAft>
                <a:buNone/>
              </a:pPr>
              <a:r>
                <a:rPr b="1" lang="en-US" sz="3081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공식 시험 검증</a:t>
              </a:r>
              <a:endParaRPr b="1" sz="3081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488"/>
                </a:spcBef>
                <a:spcAft>
                  <a:spcPts val="0"/>
                </a:spcAft>
                <a:buNone/>
              </a:pPr>
              <a:r>
                <a:rPr b="0" lang="en-US" sz="2337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구글이 출제하는 실무 평가를 직접 수행하여, 에듀테크를 즉각 활용할 수 있는 실력을 공인</a:t>
              </a:r>
              <a:endParaRPr b="0" sz="2337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1"/>
          <p:cNvGrpSpPr/>
          <p:nvPr/>
        </p:nvGrpSpPr>
        <p:grpSpPr>
          <a:xfrm>
            <a:off x="1143000" y="857250"/>
            <a:ext cx="5715000" cy="381000"/>
            <a:chOff x="0" y="0"/>
            <a:chExt cx="5715000" cy="381000"/>
          </a:xfrm>
        </p:grpSpPr>
        <p:sp>
          <p:nvSpPr>
            <p:cNvPr id="155" name="Google Shape;155;p21"/>
            <p:cNvSpPr/>
            <p:nvPr/>
          </p:nvSpPr>
          <p:spPr>
            <a:xfrm>
              <a:off x="0" y="0"/>
              <a:ext cx="571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1"/>
            <p:cNvSpPr txBox="1"/>
            <p:nvPr/>
          </p:nvSpPr>
          <p:spPr>
            <a:xfrm>
              <a:off x="0" y="0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우리의 약속 · GCE 합격 패키지</a:t>
              </a:r>
              <a:endParaRPr b="1" sz="16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57" name="Google Shape;157;p21"/>
          <p:cNvSpPr txBox="1"/>
          <p:nvPr/>
        </p:nvSpPr>
        <p:spPr>
          <a:xfrm>
            <a:off x="1143000" y="2476500"/>
            <a:ext cx="9525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교육의 진정성</a:t>
            </a:r>
            <a:endParaRPr b="0" sz="24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가르치고 끝나지 않습니다.</a:t>
            </a:r>
            <a:endParaRPr b="1" sz="64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80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함께</a:t>
            </a:r>
            <a:r>
              <a:rPr b="0" lang="en-US" sz="8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0" lang="en-US" sz="8000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완주</a:t>
            </a:r>
            <a:r>
              <a:rPr b="0" lang="en-US" sz="8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합니다.</a:t>
            </a:r>
            <a:endParaRPr b="0" sz="8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58" name="Google Shape;158;p21"/>
          <p:cNvGrpSpPr/>
          <p:nvPr/>
        </p:nvGrpSpPr>
        <p:grpSpPr>
          <a:xfrm>
            <a:off x="11430000" y="2476500"/>
            <a:ext cx="5715000" cy="5334000"/>
            <a:chOff x="0" y="0"/>
            <a:chExt cx="5715000" cy="5334000"/>
          </a:xfrm>
        </p:grpSpPr>
        <p:sp>
          <p:nvSpPr>
            <p:cNvPr id="159" name="Google Shape;159;p21"/>
            <p:cNvSpPr/>
            <p:nvPr/>
          </p:nvSpPr>
          <p:spPr>
            <a:xfrm>
              <a:off x="0" y="0"/>
              <a:ext cx="5715000" cy="5334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0" y="0"/>
              <a:ext cx="5715000" cy="381000"/>
            </a:xfrm>
            <a:custGeom>
              <a:rect b="b" l="l" r="r" t="t"/>
              <a:pathLst>
                <a:path extrusionOk="0" h="120000" w="120000">
                  <a:moveTo>
                    <a:pt x="0" y="72000"/>
                  </a:moveTo>
                  <a:cubicBezTo>
                    <a:pt x="0" y="32235"/>
                    <a:pt x="2149" y="0"/>
                    <a:pt x="4800" y="0"/>
                  </a:cubicBezTo>
                  <a:lnTo>
                    <a:pt x="115200" y="0"/>
                  </a:lnTo>
                  <a:cubicBezTo>
                    <a:pt x="117851" y="0"/>
                    <a:pt x="120000" y="32235"/>
                    <a:pt x="120000" y="7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1"/>
            <p:cNvSpPr txBox="1"/>
            <p:nvPr/>
          </p:nvSpPr>
          <p:spPr>
            <a:xfrm>
              <a:off x="476250" y="762000"/>
              <a:ext cx="4762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SPECIAL PROMISE</a:t>
              </a:r>
              <a:endParaRPr b="1" sz="16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5주차 강사 동시 응시</a:t>
              </a:r>
              <a:endParaRPr b="1" sz="34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37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01</a:t>
              </a:r>
              <a:r>
                <a:rPr b="0" lang="en-US" sz="20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같은 날, 수강생과 함께 시작합니다.</a:t>
              </a:r>
              <a:endParaRPr b="0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A433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02</a:t>
              </a:r>
              <a:r>
                <a:rPr b="0" lang="en-US" sz="20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같은 공간에서 현장의 긴장을 공유합니다.</a:t>
              </a:r>
              <a:endParaRPr b="0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BBC0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03</a:t>
              </a:r>
              <a:r>
                <a:rPr b="0" lang="en-US" sz="20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같은 시험지로 정직하게 증명합니다.</a:t>
              </a:r>
              <a:endParaRPr b="0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22"/>
          <p:cNvGrpSpPr/>
          <p:nvPr/>
        </p:nvGrpSpPr>
        <p:grpSpPr>
          <a:xfrm>
            <a:off x="1143000" y="857250"/>
            <a:ext cx="5715000" cy="285900"/>
            <a:chOff x="0" y="0"/>
            <a:chExt cx="5715000" cy="285900"/>
          </a:xfrm>
        </p:grpSpPr>
        <p:sp>
          <p:nvSpPr>
            <p:cNvPr id="168" name="Google Shape;168;p22"/>
            <p:cNvSpPr/>
            <p:nvPr/>
          </p:nvSpPr>
          <p:spPr>
            <a:xfrm>
              <a:off x="0" y="0"/>
              <a:ext cx="5715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2"/>
            <p:cNvSpPr txBox="1"/>
            <p:nvPr/>
          </p:nvSpPr>
          <p:spPr>
            <a:xfrm>
              <a:off x="0" y="0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구글 공인 교육자 · Google Certified Educator</a:t>
              </a:r>
              <a:endParaRPr b="1" sz="16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70" name="Google Shape;170;p22"/>
          <p:cNvGrpSpPr/>
          <p:nvPr/>
        </p:nvGrpSpPr>
        <p:grpSpPr>
          <a:xfrm>
            <a:off x="1143000" y="1333500"/>
            <a:ext cx="16002000" cy="762000"/>
            <a:chOff x="0" y="0"/>
            <a:chExt cx="16002000" cy="762000"/>
          </a:xfrm>
        </p:grpSpPr>
        <p:sp>
          <p:nvSpPr>
            <p:cNvPr id="171" name="Google Shape;171;p22"/>
            <p:cNvSpPr/>
            <p:nvPr/>
          </p:nvSpPr>
          <p:spPr>
            <a:xfrm>
              <a:off x="0" y="0"/>
              <a:ext cx="1600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0" y="0"/>
              <a:ext cx="1600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1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전체 지도 </a:t>
              </a:r>
              <a:endParaRPr b="0" sz="481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73" name="Google Shape;173;p22"/>
          <p:cNvGrpSpPr/>
          <p:nvPr/>
        </p:nvGrpSpPr>
        <p:grpSpPr>
          <a:xfrm>
            <a:off x="1143000" y="2286000"/>
            <a:ext cx="16002000" cy="762000"/>
            <a:chOff x="0" y="0"/>
            <a:chExt cx="16002000" cy="762000"/>
          </a:xfrm>
        </p:grpSpPr>
        <p:sp>
          <p:nvSpPr>
            <p:cNvPr id="174" name="Google Shape;174;p22"/>
            <p:cNvSpPr/>
            <p:nvPr/>
          </p:nvSpPr>
          <p:spPr>
            <a:xfrm>
              <a:off x="0" y="0"/>
              <a:ext cx="1600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/>
            </a:p>
          </p:txBody>
        </p:sp>
        <p:sp>
          <p:nvSpPr>
            <p:cNvPr id="175" name="Google Shape;175;p22"/>
            <p:cNvSpPr txBox="1"/>
            <p:nvPr/>
          </p:nvSpPr>
          <p:spPr>
            <a:xfrm>
              <a:off x="0" y="0"/>
              <a:ext cx="1600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1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제품 활용, AI 활용, 전문 역할—세 개의 층이 서로 다른 목적으로 존재합니다.</a:t>
              </a:r>
              <a:endParaRPr b="0" sz="3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위로 올라가는 것이 아니라, </a:t>
              </a:r>
              <a:r>
                <a:rPr b="1" lang="en-US" sz="31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자신의 층을 찾는 것</a:t>
              </a:r>
              <a:r>
                <a:rPr b="1" lang="en-US" sz="3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 먼저입니다.</a:t>
              </a:r>
              <a:endParaRPr b="1" sz="3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76" name="Google Shape;176;p22"/>
          <p:cNvGrpSpPr/>
          <p:nvPr/>
        </p:nvGrpSpPr>
        <p:grpSpPr>
          <a:xfrm>
            <a:off x="1143000" y="3619500"/>
            <a:ext cx="4953000" cy="5334000"/>
            <a:chOff x="0" y="0"/>
            <a:chExt cx="4953000" cy="5334000"/>
          </a:xfrm>
        </p:grpSpPr>
        <p:sp>
          <p:nvSpPr>
            <p:cNvPr id="177" name="Google Shape;177;p22"/>
            <p:cNvSpPr/>
            <p:nvPr/>
          </p:nvSpPr>
          <p:spPr>
            <a:xfrm>
              <a:off x="0" y="0"/>
              <a:ext cx="4953000" cy="5334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9050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0" y="0"/>
              <a:ext cx="4953000" cy="304800"/>
            </a:xfrm>
            <a:custGeom>
              <a:rect b="b" l="l" r="r" t="t"/>
              <a:pathLst>
                <a:path extrusionOk="0" h="120000" w="120000">
                  <a:moveTo>
                    <a:pt x="0" y="90000"/>
                  </a:moveTo>
                  <a:cubicBezTo>
                    <a:pt x="0" y="40294"/>
                    <a:pt x="2480" y="0"/>
                    <a:pt x="5538" y="0"/>
                  </a:cubicBezTo>
                  <a:lnTo>
                    <a:pt x="114462" y="0"/>
                  </a:lnTo>
                  <a:cubicBezTo>
                    <a:pt x="117520" y="0"/>
                    <a:pt x="120000" y="40294"/>
                    <a:pt x="120000" y="9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79" name="Google Shape;179;p22"/>
            <p:cNvSpPr txBox="1"/>
            <p:nvPr/>
          </p:nvSpPr>
          <p:spPr>
            <a:xfrm>
              <a:off x="381000" y="571500"/>
              <a:ext cx="4191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Layer 01 · Foundation</a:t>
              </a:r>
              <a:endParaRPr b="1" sz="19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44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Educator</a:t>
              </a:r>
              <a:br>
                <a:rPr b="0" lang="en-US" sz="44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lang="en-US" sz="44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Level 1 · 2</a:t>
              </a:r>
              <a:endParaRPr b="0" sz="44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제품 활용 역량</a:t>
              </a:r>
              <a:endParaRPr b="1" sz="2600">
                <a:solidFill>
                  <a:srgbClr val="3C404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Google Workspace for Education 도구를 수업에 통합하는 능력을 증명합니다. 모든 상위 트랙의 공통 전제 조건.</a:t>
              </a:r>
              <a:endParaRPr b="0" sz="20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80" name="Google Shape;180;p22"/>
          <p:cNvGrpSpPr/>
          <p:nvPr/>
        </p:nvGrpSpPr>
        <p:grpSpPr>
          <a:xfrm>
            <a:off x="6667500" y="3619500"/>
            <a:ext cx="4953000" cy="5334000"/>
            <a:chOff x="0" y="0"/>
            <a:chExt cx="4953000" cy="5334000"/>
          </a:xfrm>
        </p:grpSpPr>
        <p:sp>
          <p:nvSpPr>
            <p:cNvPr id="181" name="Google Shape;181;p22"/>
            <p:cNvSpPr/>
            <p:nvPr/>
          </p:nvSpPr>
          <p:spPr>
            <a:xfrm>
              <a:off x="0" y="0"/>
              <a:ext cx="4953000" cy="5334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9050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82" name="Google Shape;182;p22"/>
            <p:cNvSpPr/>
            <p:nvPr/>
          </p:nvSpPr>
          <p:spPr>
            <a:xfrm>
              <a:off x="0" y="0"/>
              <a:ext cx="4953000" cy="304800"/>
            </a:xfrm>
            <a:custGeom>
              <a:rect b="b" l="l" r="r" t="t"/>
              <a:pathLst>
                <a:path extrusionOk="0" h="120000" w="120000">
                  <a:moveTo>
                    <a:pt x="0" y="90000"/>
                  </a:moveTo>
                  <a:cubicBezTo>
                    <a:pt x="0" y="40294"/>
                    <a:pt x="2480" y="0"/>
                    <a:pt x="5538" y="0"/>
                  </a:cubicBezTo>
                  <a:lnTo>
                    <a:pt x="114462" y="0"/>
                  </a:lnTo>
                  <a:cubicBezTo>
                    <a:pt x="117520" y="0"/>
                    <a:pt x="120000" y="40294"/>
                    <a:pt x="120000" y="9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4A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83" name="Google Shape;183;p22"/>
            <p:cNvSpPr txBox="1"/>
            <p:nvPr/>
          </p:nvSpPr>
          <p:spPr>
            <a:xfrm>
              <a:off x="381000" y="571500"/>
              <a:ext cx="4191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34A85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Layer 02 · Expansion</a:t>
              </a:r>
              <a:endParaRPr b="1" sz="1900">
                <a:solidFill>
                  <a:srgbClr val="34A85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44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Gemini</a:t>
              </a:r>
              <a:br>
                <a:rPr b="0" lang="en-US" sz="44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lang="en-US" sz="44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Certified Ed.</a:t>
              </a:r>
              <a:endParaRPr b="0" sz="44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3C404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활용 역량</a:t>
              </a:r>
              <a:endParaRPr b="1" sz="2600">
                <a:solidFill>
                  <a:srgbClr val="3C4043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생성형 AI를 교육 맥락에서 책임감 있게 활용하는 능력. Innovator 지원과 직접 연결되는 전략 자격.</a:t>
              </a:r>
              <a:endParaRPr b="0" sz="20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84" name="Google Shape;184;p22"/>
          <p:cNvGrpSpPr/>
          <p:nvPr/>
        </p:nvGrpSpPr>
        <p:grpSpPr>
          <a:xfrm>
            <a:off x="12192000" y="3619500"/>
            <a:ext cx="4953000" cy="5334000"/>
            <a:chOff x="0" y="0"/>
            <a:chExt cx="4953000" cy="5334000"/>
          </a:xfrm>
        </p:grpSpPr>
        <p:sp>
          <p:nvSpPr>
            <p:cNvPr id="185" name="Google Shape;185;p22"/>
            <p:cNvSpPr/>
            <p:nvPr/>
          </p:nvSpPr>
          <p:spPr>
            <a:xfrm>
              <a:off x="0" y="0"/>
              <a:ext cx="4953000" cy="5334000"/>
            </a:xfrm>
            <a:prstGeom prst="roundRect">
              <a:avLst>
                <a:gd fmla="val 4615" name="adj"/>
              </a:avLst>
            </a:prstGeom>
            <a:solidFill>
              <a:srgbClr val="1F1F1F"/>
            </a:solidFill>
            <a:ln cap="flat" cmpd="sng" w="19050">
              <a:solidFill>
                <a:srgbClr val="2D2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0" y="0"/>
              <a:ext cx="4953000" cy="304800"/>
            </a:xfrm>
            <a:custGeom>
              <a:rect b="b" l="l" r="r" t="t"/>
              <a:pathLst>
                <a:path extrusionOk="0" h="120000" w="120000">
                  <a:moveTo>
                    <a:pt x="0" y="90000"/>
                  </a:moveTo>
                  <a:cubicBezTo>
                    <a:pt x="0" y="40294"/>
                    <a:pt x="2480" y="0"/>
                    <a:pt x="5538" y="0"/>
                  </a:cubicBezTo>
                  <a:lnTo>
                    <a:pt x="114462" y="0"/>
                  </a:lnTo>
                  <a:cubicBezTo>
                    <a:pt x="117520" y="0"/>
                    <a:pt x="120000" y="40294"/>
                    <a:pt x="120000" y="9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BBC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sp>
          <p:nvSpPr>
            <p:cNvPr id="187" name="Google Shape;187;p22"/>
            <p:cNvSpPr txBox="1"/>
            <p:nvPr/>
          </p:nvSpPr>
          <p:spPr>
            <a:xfrm>
              <a:off x="381000" y="571500"/>
              <a:ext cx="4191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BBC0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Layer 03 · Professional role</a:t>
              </a:r>
              <a:endParaRPr b="1" sz="1900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4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Trainer · Coach</a:t>
              </a:r>
              <a:br>
                <a:rPr b="0" lang="en-US" sz="4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lang="en-US" sz="4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· Innovator</a:t>
              </a:r>
              <a:endParaRPr b="0" sz="4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F8F9F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전문 역할 트랙</a:t>
              </a:r>
              <a:endParaRPr b="1" sz="2600">
                <a:solidFill>
                  <a:srgbClr val="F8F9F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C4C7C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가르치는 사람, 동행하는 사람, 문제를 푸는 사람. 위계가 아닌 병렬—서로 다른 정체성의 세 갈래.</a:t>
              </a:r>
              <a:endParaRPr b="0" sz="2000">
                <a:solidFill>
                  <a:srgbClr val="C4C7C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88" name="Google Shape;188;p22"/>
          <p:cNvSpPr/>
          <p:nvPr/>
        </p:nvSpPr>
        <p:spPr>
          <a:xfrm>
            <a:off x="1009987" y="3480850"/>
            <a:ext cx="5302500" cy="5717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/>
        </p:nvSpPr>
        <p:spPr>
          <a:xfrm>
            <a:off x="914400" y="609905"/>
            <a:ext cx="8572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시장의 진실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9753905" y="609905"/>
            <a:ext cx="7620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03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914400" y="1714500"/>
            <a:ext cx="14287500" cy="14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100"/>
              <a:buFont typeface="Noto Sans KR"/>
              <a:buNone/>
            </a:pPr>
            <a:r>
              <a:rPr b="1" i="0" lang="en-US" sz="5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1</a:t>
            </a:r>
            <a:r>
              <a:rPr b="1" lang="en-US" sz="51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~2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5100"/>
              <a:buFont typeface="Noto Sans KR"/>
              <a:buNone/>
            </a:pPr>
            <a:r>
              <a:rPr b="1" i="0" lang="en-US" sz="51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지식 시험</a:t>
            </a:r>
            <a:r>
              <a:rPr b="1" i="0" lang="en-US" sz="5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이 아닙니다.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914400" y="3771900"/>
            <a:ext cx="154392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객관식 퀴즈</a:t>
            </a: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는 </a:t>
            </a:r>
            <a:r>
              <a:rPr b="0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시험의 절반 </a:t>
            </a: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이하</a:t>
            </a:r>
            <a:r>
              <a:rPr b="0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 </a:t>
            </a:r>
            <a:endParaRPr b="0" i="0" sz="240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나머지</a:t>
            </a: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는</a:t>
            </a:r>
            <a:r>
              <a:rPr b="0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실제 구글 환경에서 수행하는 </a:t>
            </a: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실습 시험 3종</a:t>
            </a:r>
            <a:r>
              <a:rPr b="0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— 여기서 대부분의 독학자가 무너집니다.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914400" y="5670205"/>
            <a:ext cx="16459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lang="en-US" sz="20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예. </a:t>
            </a:r>
            <a:r>
              <a:rPr b="1" i="0" lang="en-US" sz="2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1 시험 구성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914400" y="6172200"/>
            <a:ext cx="3810300" cy="2743200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8c385f022fd0d5d92f17e4d3cdccce30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-403" l="0" r="0" t="-393"/>
          <a:stretch/>
        </p:blipFill>
        <p:spPr>
          <a:xfrm>
            <a:off x="914400" y="6172200"/>
            <a:ext cx="3810306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1143000" y="6458407"/>
            <a:ext cx="3353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A · 지식 퀴즈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1143000" y="6791249"/>
            <a:ext cx="33531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800"/>
              <a:buFont typeface="Noto Sans KR"/>
              <a:buNone/>
            </a:pPr>
            <a:r>
              <a:rPr b="1" lang="en-US" sz="58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35~</a:t>
            </a:r>
            <a:r>
              <a:rPr b="1" i="0" lang="en-US" sz="58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37</a:t>
            </a:r>
            <a:r>
              <a:rPr b="1" i="0" lang="en-US" sz="24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문항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1143000" y="7724851"/>
            <a:ext cx="335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협업·공유 32% · 커뮤니케이션 35% · 수업 도구 24% · 접근성 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953305" y="6172200"/>
            <a:ext cx="3810300" cy="2743200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6cc9811ee6648baa585b30626227120.png" id="205" name="Google Shape;205;p23"/>
          <p:cNvPicPr preferRelativeResize="0"/>
          <p:nvPr/>
        </p:nvPicPr>
        <p:blipFill rotWithShape="1">
          <a:blip r:embed="rId4">
            <a:alphaModFix/>
          </a:blip>
          <a:srcRect b="-403" l="0" r="0" t="-393"/>
          <a:stretch/>
        </p:blipFill>
        <p:spPr>
          <a:xfrm>
            <a:off x="4953305" y="6172200"/>
            <a:ext cx="3810306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5181905" y="6458407"/>
            <a:ext cx="3353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B · 실습 시험 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5181905" y="6791249"/>
            <a:ext cx="3353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Font typeface="Noto Sans KR"/>
              <a:buNone/>
            </a:pPr>
            <a:r>
              <a:rPr b="1" i="0" lang="en-US" sz="30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Classroom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5181905" y="7381951"/>
            <a:ext cx="335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수업 생성 → 과제 → 첨부 → 주제·마감일 → 공지, 실제 구글 환경 시나리오.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8991295" y="6172200"/>
            <a:ext cx="3810300" cy="2743200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24aa65561c988bc4c68b965f36c65c22.png" id="210" name="Google Shape;210;p23"/>
          <p:cNvPicPr preferRelativeResize="0"/>
          <p:nvPr/>
        </p:nvPicPr>
        <p:blipFill rotWithShape="1">
          <a:blip r:embed="rId5">
            <a:alphaModFix/>
          </a:blip>
          <a:srcRect b="-403" l="0" r="0" t="-393"/>
          <a:stretch/>
        </p:blipFill>
        <p:spPr>
          <a:xfrm>
            <a:off x="8991295" y="6172200"/>
            <a:ext cx="3810306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9219895" y="6458407"/>
            <a:ext cx="3353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C · 실습 시험 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9219895" y="6791249"/>
            <a:ext cx="3353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Font typeface="Noto Sans KR"/>
              <a:buNone/>
            </a:pPr>
            <a:r>
              <a:rPr b="1" i="0" lang="en-US" sz="30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Docs · Drive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9219895" y="7381951"/>
            <a:ext cx="335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공유 권한 정복 · 문서 협업 연속 작업, 시간제한 안에서 정확히.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13030200" y="6172200"/>
            <a:ext cx="3810300" cy="2743200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00b4f058c75233ad85095d7cc7e6c41c.png" id="215" name="Google Shape;215;p23"/>
          <p:cNvPicPr preferRelativeResize="0"/>
          <p:nvPr/>
        </p:nvPicPr>
        <p:blipFill rotWithShape="1">
          <a:blip r:embed="rId6">
            <a:alphaModFix/>
          </a:blip>
          <a:srcRect b="-403" l="0" r="0" t="-393"/>
          <a:stretch/>
        </p:blipFill>
        <p:spPr>
          <a:xfrm>
            <a:off x="13030200" y="6172200"/>
            <a:ext cx="3810306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13258800" y="6458407"/>
            <a:ext cx="3353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D · 실습 시험 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13258800" y="6791249"/>
            <a:ext cx="3353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000"/>
              <a:buFont typeface="Noto Sans KR"/>
              <a:buNone/>
            </a:pPr>
            <a:r>
              <a:rPr b="1" i="0" lang="en-US" sz="30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Forms · Sheets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13258800" y="7381951"/>
            <a:ext cx="335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채점 퀴즈 제작 · 데이터 처리, 지시문을 체크리스트로 변환하는 훈련이 관건.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914400" y="9525305"/>
            <a:ext cx="1645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지식 암기만으로는 통과 불가 — 실습 3종은 </a:t>
            </a:r>
            <a:r>
              <a:rPr b="1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구글 환경 · 시간제한 · 자동 채점</a:t>
            </a: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이라는 삼중 벽입니다.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통증 진단 · 혼자 공부하면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04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914400" y="1619402"/>
            <a:ext cx="16459200" cy="648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독학자 대부분이 </a:t>
            </a:r>
            <a:r>
              <a:rPr b="1" i="0" lang="en-US" sz="45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세 지점</a:t>
            </a: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에서 무너집니다.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914400" y="3429000"/>
            <a:ext cx="114300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6600"/>
              <a:buFont typeface="Noto Sans KR"/>
              <a:buNone/>
            </a:pPr>
            <a:r>
              <a:rPr b="1" i="0" lang="en-US" sz="66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2286000" y="3581700"/>
            <a:ext cx="1232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500"/>
              <a:buFont typeface="Noto Sans KR"/>
              <a:buNone/>
            </a:pP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시험 접수 </a:t>
            </a:r>
            <a:r>
              <a:rPr b="1" lang="en-US" sz="3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및 풀이</a:t>
            </a: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자체가 </a:t>
            </a:r>
            <a:r>
              <a:rPr b="1" lang="en-US" sz="3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“</a:t>
            </a: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미로 </a:t>
            </a:r>
            <a:r>
              <a:rPr b="1" lang="en-US" sz="3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찾기”</a:t>
            </a: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2286000" y="4181591"/>
            <a:ext cx="12329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Noto Sans KR"/>
              <a:buNone/>
            </a:pPr>
            <a:r>
              <a:rPr b="0" i="0" lang="en-US" sz="2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계정 설정, 시크릿 모드, 임시 계정, 결제 흐름, 시험 시작 트리거 </a:t>
            </a:r>
            <a:endParaRPr b="0" i="0" sz="260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Noto Sans KR"/>
              <a:buNone/>
            </a:pPr>
            <a:r>
              <a:rPr b="0" i="0" lang="en-US" sz="2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— 응시</a:t>
            </a:r>
            <a:r>
              <a:rPr lang="en-US" sz="26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하다가</a:t>
            </a:r>
            <a:r>
              <a:rPr b="0" i="0" lang="en-US" sz="2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포기하는 지원자가 실제로 있습니다.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914400" y="5574347"/>
            <a:ext cx="1143000" cy="9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6600"/>
              <a:buFont typeface="Noto Sans KR"/>
              <a:buNone/>
            </a:pPr>
            <a:r>
              <a:rPr b="1" i="0" lang="en-US" sz="66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2286000" y="5728250"/>
            <a:ext cx="1232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500"/>
              <a:buFont typeface="Noto Sans KR"/>
              <a:buNone/>
            </a:pP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실습 시험은 </a:t>
            </a:r>
            <a:r>
              <a:rPr b="1" lang="en-US" sz="3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‘</a:t>
            </a: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읽고 아는 것</a:t>
            </a:r>
            <a:r>
              <a:rPr b="1" lang="en-US" sz="3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’</a:t>
            </a: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이 아</a:t>
            </a:r>
            <a:r>
              <a:rPr b="1" lang="en-US" sz="3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닌, “손의 훈련 여부” 입니다</a:t>
            </a: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2286000" y="6328142"/>
            <a:ext cx="12329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Noto Sans KR"/>
              <a:buNone/>
            </a:pPr>
            <a:r>
              <a:rPr b="0" i="0" lang="en-US" sz="2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지시문을 체크리스트로 변환, 시간 안에 정확히 </a:t>
            </a:r>
            <a:r>
              <a:rPr lang="en-US" sz="26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실행해</a:t>
            </a:r>
            <a:r>
              <a:rPr b="0" i="0" lang="en-US" sz="2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야 통과합니다. </a:t>
            </a:r>
            <a:endParaRPr b="0" i="0" sz="260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Noto Sans KR"/>
              <a:buNone/>
            </a:pPr>
            <a:r>
              <a:rPr b="0" i="0" lang="en-US" sz="2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유튜브 시청으로는 손이 훈련되지 않습니다.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914400" y="7756601"/>
            <a:ext cx="1143000" cy="9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6600"/>
              <a:buFont typeface="Noto Sans KR"/>
              <a:buNone/>
            </a:pPr>
            <a:r>
              <a:rPr b="1" i="0" lang="en-US" sz="6600" u="none" cap="none" strike="noStrike">
                <a:solidFill>
                  <a:srgbClr val="34A853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2286000" y="7874801"/>
            <a:ext cx="1232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500"/>
              <a:buFont typeface="Noto Sans KR"/>
              <a:buNone/>
            </a:pPr>
            <a:r>
              <a:rPr b="1" lang="en-US" sz="3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내용을 알아도</a:t>
            </a:r>
            <a:r>
              <a:rPr b="1" i="0" lang="en-US" sz="3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b="1" lang="en-US" sz="3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시간이 부족합니다.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2286000" y="8475713"/>
            <a:ext cx="12329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Noto Sans KR"/>
              <a:buNone/>
            </a:pPr>
            <a:r>
              <a:rPr lang="en-US" sz="26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시험은 정해진 시간이 있고, 그에 따른 시간 관리가 필요합니다.</a:t>
            </a:r>
            <a:endParaRPr b="0" i="0" sz="260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Noto Sans KR"/>
              <a:buNone/>
            </a:pPr>
            <a:r>
              <a:rPr lang="en-US" sz="26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강사의 노하우로, 시험 당일 시간 및 집중력 안배 방법까지 안내합니다.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914400" y="9525297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2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— 이 세 지점이 우리 커리큘럼의 존재 이유입니다.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우리의 답 · 3대 차별점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05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914400" y="1619402"/>
            <a:ext cx="16459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800"/>
              <a:buFont typeface="Noto Sans KR"/>
              <a:buNone/>
            </a:pPr>
            <a:r>
              <a:rPr b="1" i="0" lang="en-US" sz="48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세 개의 벽. 세 개의 대답.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914400" y="2479853"/>
            <a:ext cx="164592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각 차별점은 한 장씩, 정직하게 증명하겠습니다.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914400" y="4095598"/>
            <a:ext cx="5352898" cy="5352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d04982711e027a87d12dd5766579abfb.png"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-198" r="-198" t="0"/>
          <a:stretch/>
        </p:blipFill>
        <p:spPr>
          <a:xfrm>
            <a:off x="914400" y="4095598"/>
            <a:ext cx="5333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200607" y="4496105"/>
            <a:ext cx="47631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USP · 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1200607" y="4876495"/>
            <a:ext cx="4763110" cy="1067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8400"/>
              <a:buFont typeface="Noto Sans KR"/>
              <a:buNone/>
            </a:pPr>
            <a:r>
              <a:rPr b="1" i="0" lang="en-US" sz="84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同 </a:t>
            </a:r>
            <a:r>
              <a:rPr b="1" i="0" lang="en-US" sz="30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b="1" lang="en-US" sz="30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함께 동)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1200607" y="6172200"/>
            <a:ext cx="47631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강사도 같은 시험을 봅니다.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1200607" y="6705295"/>
            <a:ext cx="4763110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5주차, 강사가 수강생과 같은 날 · 같은 공간에서 </a:t>
            </a:r>
            <a:endParaRPr b="0" i="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시험에 응시합니다. 훈련 방법에 대한 가장 정직한 보증.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6476695" y="4095598"/>
            <a:ext cx="5352898" cy="5352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b26cc5bf7331e8a1c55f0422a30c33d.png" id="254" name="Google Shape;254;p25"/>
          <p:cNvPicPr preferRelativeResize="0"/>
          <p:nvPr/>
        </p:nvPicPr>
        <p:blipFill rotWithShape="1">
          <a:blip r:embed="rId4">
            <a:alphaModFix/>
          </a:blip>
          <a:srcRect b="0" l="-198" r="-198" t="0"/>
          <a:stretch/>
        </p:blipFill>
        <p:spPr>
          <a:xfrm>
            <a:off x="6476695" y="4095598"/>
            <a:ext cx="5333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6762902" y="4496105"/>
            <a:ext cx="47631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USP · 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6762902" y="4876495"/>
            <a:ext cx="4763110" cy="1067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8400"/>
              <a:buFont typeface="Noto Sans KR"/>
              <a:buNone/>
            </a:pPr>
            <a:r>
              <a:rPr b="1" i="0" lang="en-US" sz="84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析 </a:t>
            </a:r>
            <a:r>
              <a:rPr b="1" i="0" lang="en-US" sz="30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b="1" lang="en-US" sz="3000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쪼갤 석)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6762902" y="6172200"/>
            <a:ext cx="47631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기출 분석 기반 설계.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6762902" y="6705295"/>
            <a:ext cx="4763110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지식 퀴즈 37문항의 출제 비중에 정확히 맞춰 주차를 배분. </a:t>
            </a:r>
            <a:endParaRPr b="0" i="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“상황 → 정답 도구” 암기표로 헷갈림을 잘라냅니다.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12039905" y="4095598"/>
            <a:ext cx="5352898" cy="5352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0fc5488b7060d33316cbdb51ca77f76.png" id="260" name="Google Shape;260;p25"/>
          <p:cNvPicPr preferRelativeResize="0"/>
          <p:nvPr/>
        </p:nvPicPr>
        <p:blipFill rotWithShape="1">
          <a:blip r:embed="rId5">
            <a:alphaModFix/>
          </a:blip>
          <a:srcRect b="0" l="-198" r="-198" t="0"/>
          <a:stretch/>
        </p:blipFill>
        <p:spPr>
          <a:xfrm>
            <a:off x="12039905" y="4095598"/>
            <a:ext cx="5333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2325198" y="4496105"/>
            <a:ext cx="47631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USP · 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12325198" y="4876495"/>
            <a:ext cx="4763110" cy="1067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8400"/>
              <a:buFont typeface="Noto Sans KR"/>
              <a:buNone/>
            </a:pPr>
            <a:r>
              <a:rPr b="1" i="0" lang="en-US" sz="8400" u="none" cap="none" strike="noStrike">
                <a:solidFill>
                  <a:srgbClr val="34A853"/>
                </a:solidFill>
                <a:latin typeface="Noto Sans KR"/>
                <a:ea typeface="Noto Sans KR"/>
                <a:cs typeface="Noto Sans KR"/>
                <a:sym typeface="Noto Sans KR"/>
              </a:rPr>
              <a:t>練 </a:t>
            </a:r>
            <a:r>
              <a:rPr b="1" i="0" lang="en-US" sz="3000" u="none" cap="none" strike="noStrike">
                <a:solidFill>
                  <a:srgbClr val="34A853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b="1" lang="en-US" sz="3000">
                <a:solidFill>
                  <a:srgbClr val="34A853"/>
                </a:solidFill>
                <a:latin typeface="Noto Sans KR"/>
                <a:ea typeface="Noto Sans KR"/>
                <a:cs typeface="Noto Sans KR"/>
                <a:sym typeface="Noto Sans KR"/>
              </a:rPr>
              <a:t>익힐 연)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12325198" y="6172200"/>
            <a:ext cx="47631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실습 시험 타임어택 랩.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12325198" y="6705295"/>
            <a:ext cx="4763110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구글 환경에서 기출 시나리오를 재현. </a:t>
            </a:r>
            <a:endParaRPr b="0" i="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눈이 아니라 손이 훈련되도록, 매 회차 타임어택 2회전.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914400" y="9753905"/>
            <a:ext cx="16459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同 · 함께 / 析 · 분석 / 練 · 훈련 — 세 글자가 이 커리큘럼의 뼈대입니다.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USP 01 · 동행의 약속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06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086f7a642d28ce5ad149a587d0bcee42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-400" l="0" r="0" t="-400"/>
          <a:stretch/>
        </p:blipFill>
        <p:spPr>
          <a:xfrm>
            <a:off x="914400" y="1410005"/>
            <a:ext cx="914400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914400" y="2381098"/>
            <a:ext cx="11430000" cy="2581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6100"/>
              <a:buFont typeface="Noto Sans KR"/>
              <a:buNone/>
            </a:pPr>
            <a:r>
              <a:rPr b="1" i="0" lang="en-US" sz="6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가르치는 사람이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6100"/>
              <a:buFont typeface="Noto Sans KR"/>
              <a:buNone/>
            </a:pPr>
            <a:r>
              <a:rPr b="1" i="0" lang="en-US" sz="61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책상</a:t>
            </a:r>
            <a:r>
              <a:rPr b="1" i="0" lang="en-US" sz="6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에서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6100"/>
              <a:buFont typeface="Noto Sans KR"/>
              <a:buNone/>
            </a:pPr>
            <a:r>
              <a:rPr b="1" i="0" lang="en-US" sz="61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시험지</a:t>
            </a:r>
            <a:r>
              <a:rPr b="1" i="0" lang="en-US" sz="6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를 받습니다.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12763200" y="1790401"/>
            <a:ext cx="4610400" cy="674160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13049402" y="2076602"/>
            <a:ext cx="40389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보증하는 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13049402" y="2572207"/>
            <a:ext cx="40389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oto Sans KR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8·30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13049402" y="3372307"/>
            <a:ext cx="40389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1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2026년 8월 30일, 일요일 </a:t>
            </a:r>
            <a:endParaRPr b="0" i="0" sz="1600" u="none" cap="none" strike="noStrike">
              <a:solidFill>
                <a:srgbClr val="DDDDD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1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— 강사와 수강생이 같은 시험에 응시하는 날.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ae9fec20760acff1b87494c4b36fcc14.png" id="279" name="Google Shape;279;p26"/>
          <p:cNvPicPr preferRelativeResize="0"/>
          <p:nvPr/>
        </p:nvPicPr>
        <p:blipFill rotWithShape="1">
          <a:blip r:embed="rId4">
            <a:alphaModFix/>
          </a:blip>
          <a:srcRect b="0" l="-2089" r="-2089" t="0"/>
          <a:stretch/>
        </p:blipFill>
        <p:spPr>
          <a:xfrm>
            <a:off x="13049402" y="4401007"/>
            <a:ext cx="40389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13049402" y="4591202"/>
            <a:ext cx="40389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oto Sans KR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同席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13049402" y="5563766"/>
            <a:ext cx="470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1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공간, 같은 시각. </a:t>
            </a:r>
            <a:endParaRPr b="0" i="0" sz="1600" u="none" cap="none" strike="noStrike">
              <a:solidFill>
                <a:srgbClr val="DDDDD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1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강사는 원격 조력자가 아니라 동석자입니다.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ae9fec20760acff1b87494c4b36fcc14.png" id="282" name="Google Shape;282;p26"/>
          <p:cNvPicPr preferRelativeResize="0"/>
          <p:nvPr/>
        </p:nvPicPr>
        <p:blipFill rotWithShape="1">
          <a:blip r:embed="rId4">
            <a:alphaModFix/>
          </a:blip>
          <a:srcRect b="0" l="-2089" r="-2089" t="0"/>
          <a:stretch/>
        </p:blipFill>
        <p:spPr>
          <a:xfrm>
            <a:off x="13049402" y="6381598"/>
            <a:ext cx="40389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13049402" y="6572707"/>
            <a:ext cx="40389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oto Sans KR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100%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13049402" y="7372807"/>
            <a:ext cx="40389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1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가르친 그대로를, 그 자리에서 스스로 증명. </a:t>
            </a:r>
            <a:endParaRPr b="0" i="0" sz="1600" u="none" cap="none" strike="noStrike">
              <a:solidFill>
                <a:srgbClr val="DDDDD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1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수강생을 두고 도망갈 방법이 없습니다.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914400" y="6096303"/>
            <a:ext cx="11430000" cy="26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대부분의 자격 대비 과정은 “가르치고 끝”입니다. 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강사는 시험장을 떠나 있고, 수강생만 홀로 시험을 봅니다. 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우리는 그 순서를 바꿨습니다. 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t/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커리큘럼이 옳다면, 강사도 그 커리큘럼으로 통과할 수 있어야 하고,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수강생과 함께 동고동락 합니다.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914400" y="9753905"/>
            <a:ext cx="16459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“가르친다”와 “증명한다”의 간격을 없애는 원칙 — 무엇이 바뀌는가: 수강생이 강사의 훈련법을 신뢰하게 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USP 02 · 분석 기반 설계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07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d6e6bdf09ec6fd9017878528844bbf66.png" id="294" name="Google Shape;294;p27"/>
          <p:cNvPicPr preferRelativeResize="0"/>
          <p:nvPr/>
        </p:nvPicPr>
        <p:blipFill rotWithShape="1">
          <a:blip r:embed="rId3">
            <a:alphaModFix/>
          </a:blip>
          <a:srcRect b="-400" l="0" r="0" t="-400"/>
          <a:stretch/>
        </p:blipFill>
        <p:spPr>
          <a:xfrm>
            <a:off x="914400" y="1410005"/>
            <a:ext cx="914400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/>
        </p:nvSpPr>
        <p:spPr>
          <a:xfrm>
            <a:off x="914400" y="1790395"/>
            <a:ext cx="1143000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6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지식 퀴즈 37문항 · 출제 비중 재구성 · 한국어 대비 자료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914400" y="2381098"/>
            <a:ext cx="11430000" cy="1724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6100"/>
              <a:buFont typeface="Noto Sans KR"/>
              <a:buNone/>
            </a:pPr>
            <a:r>
              <a:rPr b="1" i="0" lang="en-US" sz="6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감으로 배우지 않습니다.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6100"/>
              <a:buFont typeface="Noto Sans KR"/>
              <a:buNone/>
            </a:pPr>
            <a:r>
              <a:rPr b="1" i="0" lang="en-US" sz="61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비중</a:t>
            </a:r>
            <a:r>
              <a:rPr b="1" i="0" lang="en-US" sz="6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대로 배웁니다.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914400" y="5391302"/>
            <a:ext cx="11430000" cy="1010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시간을 어디에 얼마나 쏟느냐가 합격을 가릅니다. 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우리는 지식 퀴즈 35~37문항의 도메인별 출제 비중을 그대로 주차 배분에 반영했습니다. 커뮤니케이션 35%가 나오는 시험이라면, 커뮤니케이션에 35%의 시간을 씁니다. 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남는 시간에 “상황 → 정답 도구” 암기표로 헷갈리는 지점을 잘라냅니다.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914400" y="7905902"/>
            <a:ext cx="1170889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Noto Sans KR"/>
              <a:buNone/>
            </a:pPr>
            <a:r>
              <a:rPr b="0" i="0" lang="en-US" sz="1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한국어로 응시 가능한 시험임에도 국내 대비 자료는 턱없이 부족합니다. 이 커리큘럼은 그 공백을 정면으로 겨냥해 설계됐습니다.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12763195" y="1790395"/>
            <a:ext cx="4610405" cy="7619695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13049402" y="2076602"/>
            <a:ext cx="40389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출제 비중 · 지식 퀴즈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13049402" y="2352751"/>
            <a:ext cx="40389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Noto Sans KR"/>
              <a:buNone/>
            </a:pPr>
            <a:r>
              <a:rPr b="1" i="0" lang="en-US" sz="2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37</a:t>
            </a:r>
            <a:r>
              <a:rPr b="1" i="0" lang="en-US" sz="12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문항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13049402" y="3114446"/>
            <a:ext cx="9756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커뮤니케이션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16638422" y="3047695"/>
            <a:ext cx="45720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35%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13049402" y="3390595"/>
            <a:ext cx="4058107" cy="1527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80c57e5b13b6b3bdab49d7a630b2de65.png" id="305" name="Google Shape;305;p27"/>
          <p:cNvPicPr preferRelativeResize="0"/>
          <p:nvPr/>
        </p:nvPicPr>
        <p:blipFill rotWithShape="1">
          <a:blip r:embed="rId4">
            <a:alphaModFix/>
          </a:blip>
          <a:srcRect b="-46" l="0" r="0" t="-46"/>
          <a:stretch/>
        </p:blipFill>
        <p:spPr>
          <a:xfrm>
            <a:off x="13049402" y="3390595"/>
            <a:ext cx="14100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13049402" y="3972154"/>
            <a:ext cx="947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협업 · 공유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16638422" y="3905402"/>
            <a:ext cx="45720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32%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13049402" y="4248302"/>
            <a:ext cx="4058107" cy="1527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d54cf8ddaed255fba176f394a8848fb.png" id="309" name="Google Shape;309;p27"/>
          <p:cNvPicPr preferRelativeResize="0"/>
          <p:nvPr/>
        </p:nvPicPr>
        <p:blipFill rotWithShape="1">
          <a:blip r:embed="rId5">
            <a:alphaModFix/>
          </a:blip>
          <a:srcRect b="-45" l="0" r="0" t="-45"/>
          <a:stretch/>
        </p:blipFill>
        <p:spPr>
          <a:xfrm>
            <a:off x="13049402" y="4248302"/>
            <a:ext cx="1295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13049402" y="4828946"/>
            <a:ext cx="7488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수업 도구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16638422" y="4762195"/>
            <a:ext cx="45720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24%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13049402" y="5105095"/>
            <a:ext cx="4058107" cy="1527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2d90a07327d4f5cc54c32ca42e8ad238.png" id="313" name="Google Shape;313;p27"/>
          <p:cNvPicPr preferRelativeResize="0"/>
          <p:nvPr/>
        </p:nvPicPr>
        <p:blipFill rotWithShape="1">
          <a:blip r:embed="rId6">
            <a:alphaModFix/>
          </a:blip>
          <a:srcRect b="-34" l="0" r="0" t="-34"/>
          <a:stretch/>
        </p:blipFill>
        <p:spPr>
          <a:xfrm>
            <a:off x="13049402" y="5105095"/>
            <a:ext cx="9720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7"/>
          <p:cNvSpPr txBox="1"/>
          <p:nvPr/>
        </p:nvSpPr>
        <p:spPr>
          <a:xfrm>
            <a:off x="13049402" y="5686654"/>
            <a:ext cx="4882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접근성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16761866" y="5619902"/>
            <a:ext cx="333756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8%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13049402" y="5962802"/>
            <a:ext cx="4058107" cy="1527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13049402" y="5962802"/>
            <a:ext cx="323698" cy="133502"/>
          </a:xfrm>
          <a:prstGeom prst="rect">
            <a:avLst/>
          </a:prstGeom>
          <a:solidFill>
            <a:srgbClr val="34A853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285ad963d1ee504b791493d7408f4242.png" id="318" name="Google Shape;318;p27"/>
          <p:cNvPicPr preferRelativeResize="0"/>
          <p:nvPr/>
        </p:nvPicPr>
        <p:blipFill rotWithShape="1">
          <a:blip r:embed="rId7">
            <a:alphaModFix/>
          </a:blip>
          <a:srcRect b="0" l="-2089" r="-2089" t="0"/>
          <a:stretch/>
        </p:blipFill>
        <p:spPr>
          <a:xfrm>
            <a:off x="13049402" y="6629400"/>
            <a:ext cx="40389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13049402" y="6819595"/>
            <a:ext cx="40389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주차 배분 원칙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 txBox="1"/>
          <p:nvPr/>
        </p:nvSpPr>
        <p:spPr>
          <a:xfrm>
            <a:off x="13049402" y="7134149"/>
            <a:ext cx="4038905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비중이 높은 도메인에 시간이 더 많이 갑니다. 남는 시간은 “상황 → 정답 도구” 암기표에 쓰입니다.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914400" y="9753905"/>
            <a:ext cx="16459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 바뀌는가: 헷갈림에 시간을 쓰지 않게 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USP 03 · 손을 훈련하는 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08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874c3a19eae6d7ffc3881e1ea4e3ed85.png" id="329" name="Google Shape;329;p28"/>
          <p:cNvPicPr preferRelativeResize="0"/>
          <p:nvPr/>
        </p:nvPicPr>
        <p:blipFill rotWithShape="1">
          <a:blip r:embed="rId3">
            <a:alphaModFix/>
          </a:blip>
          <a:srcRect b="-400" l="0" r="0" t="-400"/>
          <a:stretch/>
        </p:blipFill>
        <p:spPr>
          <a:xfrm>
            <a:off x="914400" y="1410005"/>
            <a:ext cx="914400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8"/>
          <p:cNvSpPr txBox="1"/>
          <p:nvPr/>
        </p:nvSpPr>
        <p:spPr>
          <a:xfrm>
            <a:off x="914400" y="1790395"/>
            <a:ext cx="11430000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6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구글 환경 · 기출 시나리오 재현 · 매 회차 타임어택 2회전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914400" y="2381098"/>
            <a:ext cx="11430000" cy="1724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6100"/>
              <a:buFont typeface="Noto Sans KR"/>
              <a:buNone/>
            </a:pPr>
            <a:r>
              <a:rPr b="1" i="0" lang="en-US" sz="6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눈이 아니라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6100"/>
              <a:buFont typeface="Noto Sans KR"/>
              <a:buNone/>
            </a:pPr>
            <a:r>
              <a:rPr b="1" i="0" lang="en-US" sz="6100" u="none" cap="none" strike="noStrike">
                <a:solidFill>
                  <a:srgbClr val="34A853"/>
                </a:solidFill>
                <a:latin typeface="Noto Sans KR"/>
                <a:ea typeface="Noto Sans KR"/>
                <a:cs typeface="Noto Sans KR"/>
                <a:sym typeface="Noto Sans KR"/>
              </a:rPr>
              <a:t>손</a:t>
            </a:r>
            <a:r>
              <a:rPr b="1" i="0" lang="en-US" sz="6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이 통과합니다.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914400" y="5391302"/>
            <a:ext cx="114300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실습 시험은 “아는 것”이 아니라 “시간 안에 정확히 손이 움직이는 것”을 측정합니다. 유튜브 시청과 결정적으로 다른 지점입니다. 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t/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12763195" y="1790395"/>
            <a:ext cx="4610405" cy="7619695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13049402" y="2076602"/>
            <a:ext cx="40389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랩 프로토콜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13049402" y="2572207"/>
            <a:ext cx="40389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STEP ·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13049402" y="2809951"/>
            <a:ext cx="4038905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지시문 → 체크리스트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13049402" y="3255264"/>
            <a:ext cx="40389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시험 문장을 3초 안에 체크박스로 변환하는 손 훈련.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285ad963d1ee504b791493d7408f4242.png" id="338" name="Google Shape;338;p28"/>
          <p:cNvPicPr preferRelativeResize="0"/>
          <p:nvPr/>
        </p:nvPicPr>
        <p:blipFill rotWithShape="1">
          <a:blip r:embed="rId4">
            <a:alphaModFix/>
          </a:blip>
          <a:srcRect b="0" l="-2089" r="-2089" t="0"/>
          <a:stretch/>
        </p:blipFill>
        <p:spPr>
          <a:xfrm>
            <a:off x="13049402" y="4153205"/>
            <a:ext cx="40389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8"/>
          <p:cNvSpPr txBox="1"/>
          <p:nvPr/>
        </p:nvSpPr>
        <p:spPr>
          <a:xfrm>
            <a:off x="13049402" y="4381805"/>
            <a:ext cx="40389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STEP ·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 txBox="1"/>
          <p:nvPr/>
        </p:nvSpPr>
        <p:spPr>
          <a:xfrm>
            <a:off x="13049402" y="4619549"/>
            <a:ext cx="4038905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1회전 · 실수 발견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13049402" y="5065776"/>
            <a:ext cx="4038905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구글 환경에서 시나리오를 그대로 수행 — 어디서 손이 멈추는지를 기록.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285ad963d1ee504b791493d7408f4242.png" id="342" name="Google Shape;342;p28"/>
          <p:cNvPicPr preferRelativeResize="0"/>
          <p:nvPr/>
        </p:nvPicPr>
        <p:blipFill rotWithShape="1">
          <a:blip r:embed="rId4">
            <a:alphaModFix/>
          </a:blip>
          <a:srcRect b="0" l="-2089" r="-2089" t="0"/>
          <a:stretch/>
        </p:blipFill>
        <p:spPr>
          <a:xfrm>
            <a:off x="13049402" y="5962802"/>
            <a:ext cx="40389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 txBox="1"/>
          <p:nvPr/>
        </p:nvSpPr>
        <p:spPr>
          <a:xfrm>
            <a:off x="13049402" y="6191402"/>
            <a:ext cx="40389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STEP ·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 txBox="1"/>
          <p:nvPr/>
        </p:nvSpPr>
        <p:spPr>
          <a:xfrm>
            <a:off x="13049402" y="6429146"/>
            <a:ext cx="4038905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2회전 · 손의 확정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 txBox="1"/>
          <p:nvPr/>
        </p:nvSpPr>
        <p:spPr>
          <a:xfrm>
            <a:off x="13049402" y="6875374"/>
            <a:ext cx="4038905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시나리오를 다시. 이번엔 시간을 재고, 실수 없이 완주하는 지점을 확정.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285ad963d1ee504b791493d7408f4242.png" id="346" name="Google Shape;346;p28"/>
          <p:cNvPicPr preferRelativeResize="0"/>
          <p:nvPr/>
        </p:nvPicPr>
        <p:blipFill rotWithShape="1">
          <a:blip r:embed="rId4">
            <a:alphaModFix/>
          </a:blip>
          <a:srcRect b="0" l="-2089" r="-2089" t="0"/>
          <a:stretch/>
        </p:blipFill>
        <p:spPr>
          <a:xfrm>
            <a:off x="13049402" y="7772400"/>
            <a:ext cx="403890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8"/>
          <p:cNvSpPr txBox="1"/>
          <p:nvPr/>
        </p:nvSpPr>
        <p:spPr>
          <a:xfrm>
            <a:off x="13049402" y="8001000"/>
            <a:ext cx="40389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STEP ·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 txBox="1"/>
          <p:nvPr/>
        </p:nvSpPr>
        <p:spPr>
          <a:xfrm>
            <a:off x="13049402" y="8238744"/>
            <a:ext cx="4038905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개인 취약점 카드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 txBox="1"/>
          <p:nvPr/>
        </p:nvSpPr>
        <p:spPr>
          <a:xfrm>
            <a:off x="13049402" y="8684971"/>
            <a:ext cx="40389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다음 회차에 다시 만나는 개인별 진단 카드.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914400" y="9753905"/>
            <a:ext cx="16459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 바뀌는가: 시험 당일 손이 얼지 않습니다.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"/>
          <p:cNvSpPr txBox="1"/>
          <p:nvPr/>
        </p:nvSpPr>
        <p:spPr>
          <a:xfrm>
            <a:off x="914400" y="609905"/>
            <a:ext cx="8572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5주 커리큘럼 · 여정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9753905" y="609905"/>
            <a:ext cx="7620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09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914400" y="1524305"/>
            <a:ext cx="16459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한 달. 다섯 걸음. 한 번의 응시.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914400" y="2305202"/>
            <a:ext cx="164592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2026년 8월 매주 일요일 — 방학의 리듬에 정확히 맞춰 설계했습니다.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gen-dedup-7509dded8dfa36294ff957c88fe9debf.png" id="360" name="Google Shape;360;p29"/>
          <p:cNvPicPr preferRelativeResize="0"/>
          <p:nvPr/>
        </p:nvPicPr>
        <p:blipFill rotWithShape="1">
          <a:blip r:embed="rId3">
            <a:alphaModFix/>
          </a:blip>
          <a:srcRect b="-393" l="0" r="0" t="-403"/>
          <a:stretch/>
        </p:blipFill>
        <p:spPr>
          <a:xfrm>
            <a:off x="1714500" y="4743907"/>
            <a:ext cx="148590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9"/>
          <p:cNvSpPr/>
          <p:nvPr/>
        </p:nvSpPr>
        <p:spPr>
          <a:xfrm>
            <a:off x="1714500" y="4629607"/>
            <a:ext cx="247800" cy="247800"/>
          </a:xfrm>
          <a:prstGeom prst="ellipse">
            <a:avLst/>
          </a:prstGeom>
          <a:solidFill>
            <a:srgbClr val="4285F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1238098" y="3619195"/>
            <a:ext cx="2667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주 ·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1238098" y="3857854"/>
            <a:ext cx="2667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8·2 일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1238098" y="4248302"/>
            <a:ext cx="2667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OT · Docs · Drive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1238098" y="5257800"/>
            <a:ext cx="26673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시험 구조 완전 이해. 실습 환경(시크릿 모드·임시 계정) 리허설. Docs·Drive 공유 권한 완전 정복.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4848149" y="4629607"/>
            <a:ext cx="247800" cy="247800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4371746" y="3619195"/>
            <a:ext cx="2667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주 ·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 txBox="1"/>
          <p:nvPr/>
        </p:nvSpPr>
        <p:spPr>
          <a:xfrm>
            <a:off x="4371746" y="3857854"/>
            <a:ext cx="2667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8·9 일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 txBox="1"/>
          <p:nvPr/>
        </p:nvSpPr>
        <p:spPr>
          <a:xfrm>
            <a:off x="4371746" y="4248302"/>
            <a:ext cx="2667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Classroom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4371746" y="5257800"/>
            <a:ext cx="26673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클래스룸 기출 시나리오 재현: 수업 생성 → 과제 → 첨부 → 주제·마감일 → 공지. 타임어택 2회전.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7981798" y="4629607"/>
            <a:ext cx="247800" cy="247800"/>
          </a:xfrm>
          <a:prstGeom prst="ellipse">
            <a:avLst/>
          </a:prstGeom>
          <a:solidFill>
            <a:srgbClr val="FBBC0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7505395" y="3619195"/>
            <a:ext cx="2667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주 ·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7505395" y="3857854"/>
            <a:ext cx="2667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8·16 일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7505395" y="4248302"/>
            <a:ext cx="2667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Forms · Sheets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7505395" y="5257800"/>
            <a:ext cx="2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채점 퀴즈 제작, 데이터 처리, 문서 협업 연속 작업. 지식 퀴즈 전 영역 마감.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11115446" y="4629607"/>
            <a:ext cx="247800" cy="247800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10639044" y="3619195"/>
            <a:ext cx="2667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34A853"/>
                </a:solidFill>
                <a:latin typeface="Noto Sans KR"/>
                <a:ea typeface="Noto Sans KR"/>
                <a:cs typeface="Noto Sans KR"/>
                <a:sym typeface="Noto Sans KR"/>
              </a:rPr>
              <a:t>주 ·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10639044" y="3857854"/>
            <a:ext cx="2667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8·23 일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10639044" y="4248302"/>
            <a:ext cx="2667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풀 모의고사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/>
        </p:nvSpPr>
        <p:spPr>
          <a:xfrm>
            <a:off x="10639044" y="5257800"/>
            <a:ext cx="2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지식 퀴즈 37문항 타임어택 + 실습 3종 순환 스테이션. 개인별 취약점 진단.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14192402" y="4515307"/>
            <a:ext cx="476400" cy="476400"/>
          </a:xfrm>
          <a:prstGeom prst="ellipse">
            <a:avLst/>
          </a:prstGeom>
          <a:solidFill>
            <a:srgbClr val="0A0A0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14287500" y="4610405"/>
            <a:ext cx="286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13716000" y="3619195"/>
            <a:ext cx="2667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주 ·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9"/>
          <p:cNvSpPr txBox="1"/>
          <p:nvPr/>
        </p:nvSpPr>
        <p:spPr>
          <a:xfrm>
            <a:off x="13716000" y="3857854"/>
            <a:ext cx="2667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8·30 일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9"/>
          <p:cNvSpPr txBox="1"/>
          <p:nvPr/>
        </p:nvSpPr>
        <p:spPr>
          <a:xfrm>
            <a:off x="13716000" y="4248302"/>
            <a:ext cx="2667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실전 응시일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9"/>
          <p:cNvSpPr txBox="1"/>
          <p:nvPr/>
        </p:nvSpPr>
        <p:spPr>
          <a:xfrm>
            <a:off x="13716000" y="5257800"/>
            <a:ext cx="2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강사와 함께 실제 시험 응시. 현장 응시 환경 지원.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73fc56d7c30e07b8ca32eaffe983faae.png" id="387" name="Google Shape;387;p29"/>
          <p:cNvPicPr preferRelativeResize="0"/>
          <p:nvPr/>
        </p:nvPicPr>
        <p:blipFill rotWithShape="1">
          <a:blip r:embed="rId4">
            <a:alphaModFix/>
          </a:blip>
          <a:srcRect b="0" l="-2083" r="-2083" t="0"/>
          <a:stretch/>
        </p:blipFill>
        <p:spPr>
          <a:xfrm>
            <a:off x="914400" y="7810805"/>
            <a:ext cx="164592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9"/>
          <p:cNvSpPr txBox="1"/>
          <p:nvPr/>
        </p:nvSpPr>
        <p:spPr>
          <a:xfrm>
            <a:off x="914400" y="8134502"/>
            <a:ext cx="11430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시즌 앵커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9"/>
          <p:cNvSpPr txBox="1"/>
          <p:nvPr/>
        </p:nvSpPr>
        <p:spPr>
          <a:xfrm>
            <a:off x="914400" y="8438998"/>
            <a:ext cx="114300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100"/>
              <a:buFont typeface="Noto Sans KR"/>
              <a:buNone/>
            </a:pPr>
            <a:r>
              <a:rPr b="1" i="0" lang="en-US" sz="21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방학 시작 후 첫 일요일에 시작해, 개학 직전 일요일에 응시합니다.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 txBox="1"/>
          <p:nvPr/>
        </p:nvSpPr>
        <p:spPr>
          <a:xfrm>
            <a:off x="12382805" y="8134502"/>
            <a:ext cx="4991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장소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 txBox="1"/>
          <p:nvPr/>
        </p:nvSpPr>
        <p:spPr>
          <a:xfrm>
            <a:off x="12382805" y="8417966"/>
            <a:ext cx="49917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4375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한국열린사이버대학교 강남학습관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44375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서울 송파구 오금로 101, 3–4층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9"/>
          <p:cNvSpPr txBox="1"/>
          <p:nvPr/>
        </p:nvSpPr>
        <p:spPr>
          <a:xfrm>
            <a:off x="914400" y="9753905"/>
            <a:ext cx="164592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2학기 개학 일정에 따라 온라인 개별 응시 옵션 안내 — 상세 페이지 참조.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914400" y="3048155"/>
            <a:ext cx="16459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lang="en-US" sz="20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예. </a:t>
            </a:r>
            <a:r>
              <a:rPr b="1" i="0" lang="en-US" sz="2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1 시험 구성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 바뀌는가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0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10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 txBox="1"/>
          <p:nvPr/>
        </p:nvSpPr>
        <p:spPr>
          <a:xfrm>
            <a:off x="914400" y="1619402"/>
            <a:ext cx="16459200" cy="629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개학 첫날, 당신의 자기소개가 </a:t>
            </a:r>
            <a:r>
              <a:rPr b="1" i="0" lang="en-US" sz="45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한 줄</a:t>
            </a: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바뀝니다.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0"/>
          <p:cNvSpPr/>
          <p:nvPr/>
        </p:nvSpPr>
        <p:spPr>
          <a:xfrm>
            <a:off x="914400" y="3238805"/>
            <a:ext cx="8076895" cy="5333695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1200607" y="3524098"/>
            <a:ext cx="75063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BEFORE · 개학 직전, 지금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0"/>
          <p:cNvSpPr txBox="1"/>
          <p:nvPr/>
        </p:nvSpPr>
        <p:spPr>
          <a:xfrm>
            <a:off x="1200607" y="4076395"/>
            <a:ext cx="7506310" cy="933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“구글 도구를 </a:t>
            </a:r>
            <a:r>
              <a:rPr b="1" lang="en-US" sz="27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조금 쓸 줄 알아요.”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0"/>
          <p:cNvSpPr txBox="1"/>
          <p:nvPr/>
        </p:nvSpPr>
        <p:spPr>
          <a:xfrm>
            <a:off x="1200607" y="6472123"/>
            <a:ext cx="7506310" cy="121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유튜브 강의 몇 편, 확신 없음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클래스룸 세팅에서 매번 5분 낭비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공유 권한 실수로 학생 파일 유출 걱정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KR"/>
              <a:buNone/>
            </a:pPr>
            <a:r>
              <a:rPr lang="en-US" sz="2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“한번은 해봐야 하는데”가 3년째 계속됨</a:t>
            </a:r>
            <a:endParaRPr sz="24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9144000" y="5600700"/>
            <a:ext cx="609905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800"/>
              <a:buFont typeface="Noto Sans KR"/>
              <a:buNone/>
            </a:pPr>
            <a:r>
              <a:rPr b="1" i="0" lang="en-US" sz="48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9829800" y="3238805"/>
            <a:ext cx="7543800" cy="5333695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 txBox="1"/>
          <p:nvPr/>
        </p:nvSpPr>
        <p:spPr>
          <a:xfrm>
            <a:off x="10116007" y="3524098"/>
            <a:ext cx="69723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AFTER · 8월 30일 이후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0"/>
          <p:cNvSpPr txBox="1"/>
          <p:nvPr/>
        </p:nvSpPr>
        <p:spPr>
          <a:xfrm>
            <a:off x="10116000" y="4076405"/>
            <a:ext cx="69723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“저, </a:t>
            </a:r>
            <a:r>
              <a:rPr b="1" i="0" lang="en-US" sz="40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구글 공인 교육자</a:t>
            </a:r>
            <a:r>
              <a:rPr b="1" i="0" lang="en-US" sz="4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0"/>
          <p:cNvSpPr txBox="1"/>
          <p:nvPr/>
        </p:nvSpPr>
        <p:spPr>
          <a:xfrm>
            <a:off x="10116007" y="5764836"/>
            <a:ext cx="69723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6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국제 공인 자격증 (Google 공식)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클래스룸 세팅 3분 안에 완료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공유 권한을 “가르칠 수 있게” 이해함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2학기 자기계발 포트폴리오의 첫 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0"/>
          <p:cNvSpPr txBox="1"/>
          <p:nvPr/>
        </p:nvSpPr>
        <p:spPr>
          <a:xfrm>
            <a:off x="914400" y="9029700"/>
            <a:ext cx="16459200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 바뀌었나</a:t>
            </a:r>
            <a:r>
              <a:rPr b="0" i="0" lang="en-US" sz="1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— “해봐야 하는데”가 “했다”로, 자기소개 한 줄에 무게가 실립니다.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914400" y="9753905"/>
            <a:ext cx="16459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국제 공인 자격 — Google Certified Educator Level 1은 전 세계 공통 기준의 공식 자격입니다.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수강생 제공 자료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11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1"/>
          <p:cNvSpPr txBox="1"/>
          <p:nvPr/>
        </p:nvSpPr>
        <p:spPr>
          <a:xfrm>
            <a:off x="914400" y="1524305"/>
            <a:ext cx="14287500" cy="629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다섯 개의 무기.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1"/>
          <p:cNvSpPr txBox="1"/>
          <p:nvPr/>
        </p:nvSpPr>
        <p:spPr>
          <a:xfrm>
            <a:off x="914400" y="2305202"/>
            <a:ext cx="1428750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600"/>
              <a:buFont typeface="Noto Sans KR"/>
              <a:buNone/>
            </a:pPr>
            <a:r>
              <a:rPr b="0" i="0" lang="en-US" sz="24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각각이 실패 지점 하나에 정확히 대응합니다.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914400" y="3810305"/>
            <a:ext cx="5352898" cy="26865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268db996a98e8442f82cecb347049a61.png" id="423" name="Google Shape;423;p31"/>
          <p:cNvPicPr preferRelativeResize="0"/>
          <p:nvPr/>
        </p:nvPicPr>
        <p:blipFill rotWithShape="1">
          <a:blip r:embed="rId3">
            <a:alphaModFix/>
          </a:blip>
          <a:srcRect b="0" l="-394" r="-394" t="0"/>
          <a:stretch/>
        </p:blipFill>
        <p:spPr>
          <a:xfrm>
            <a:off x="914400" y="3810305"/>
            <a:ext cx="57607" cy="266730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1"/>
          <p:cNvSpPr txBox="1"/>
          <p:nvPr/>
        </p:nvSpPr>
        <p:spPr>
          <a:xfrm>
            <a:off x="1238098" y="4095598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자료 ·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 txBox="1"/>
          <p:nvPr/>
        </p:nvSpPr>
        <p:spPr>
          <a:xfrm>
            <a:off x="1238098" y="4390949"/>
            <a:ext cx="4763110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「상황 → 정답 도구」 암기표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1"/>
          <p:cNvSpPr txBox="1"/>
          <p:nvPr/>
        </p:nvSpPr>
        <p:spPr>
          <a:xfrm>
            <a:off x="1238098" y="4890211"/>
            <a:ext cx="47631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기출 35~37문항을 “어떤 상황에는 어떤 도구가 정답인가”로 재구조화. 시험장에서 헷갈리지 않는 유일한 방법.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1"/>
          <p:cNvSpPr/>
          <p:nvPr/>
        </p:nvSpPr>
        <p:spPr>
          <a:xfrm>
            <a:off x="6476695" y="3810305"/>
            <a:ext cx="5352898" cy="26865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2c3396a8f2487db3fa2fec1bce3f732f.png" id="428" name="Google Shape;428;p31"/>
          <p:cNvPicPr preferRelativeResize="0"/>
          <p:nvPr/>
        </p:nvPicPr>
        <p:blipFill rotWithShape="1">
          <a:blip r:embed="rId4">
            <a:alphaModFix/>
          </a:blip>
          <a:srcRect b="0" l="-394" r="-394" t="0"/>
          <a:stretch/>
        </p:blipFill>
        <p:spPr>
          <a:xfrm>
            <a:off x="6476695" y="3810305"/>
            <a:ext cx="57607" cy="266730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1"/>
          <p:cNvSpPr txBox="1"/>
          <p:nvPr/>
        </p:nvSpPr>
        <p:spPr>
          <a:xfrm>
            <a:off x="6801307" y="4095598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자료 ·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6801307" y="4390949"/>
            <a:ext cx="4763110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실습 시험 당일 체크리스트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6801307" y="4890211"/>
            <a:ext cx="47631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시크릿 모드부터 보조모니터 세팅까지, 응시 당일 손이 얼지 않도록 순서대로 짜인 체크리스트.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1"/>
          <p:cNvSpPr/>
          <p:nvPr/>
        </p:nvSpPr>
        <p:spPr>
          <a:xfrm>
            <a:off x="12039905" y="3810305"/>
            <a:ext cx="5352898" cy="26865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b9c8be0087e0fde037cec3833e39fa9.png" id="433" name="Google Shape;433;p31"/>
          <p:cNvPicPr preferRelativeResize="0"/>
          <p:nvPr/>
        </p:nvPicPr>
        <p:blipFill rotWithShape="1">
          <a:blip r:embed="rId5">
            <a:alphaModFix/>
          </a:blip>
          <a:srcRect b="0" l="-394" r="-394" t="0"/>
          <a:stretch/>
        </p:blipFill>
        <p:spPr>
          <a:xfrm>
            <a:off x="12039905" y="3810305"/>
            <a:ext cx="57607" cy="266730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 txBox="1"/>
          <p:nvPr/>
        </p:nvSpPr>
        <p:spPr>
          <a:xfrm>
            <a:off x="12363602" y="4095598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자료 ·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12363602" y="4390949"/>
            <a:ext cx="4763110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지시문 → 체크리스트 변환법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12363602" y="4890211"/>
            <a:ext cx="47631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시험 지시문을 3초 안에 체크박스로 옮기는 훈련 카드. 실습 시험의 진짜 시험은 “읽기”입니다.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3696005" y="6762902"/>
            <a:ext cx="5352898" cy="26865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703df35428cc0c31070e7f462fb9d8d.png" id="438" name="Google Shape;438;p31"/>
          <p:cNvPicPr preferRelativeResize="0"/>
          <p:nvPr/>
        </p:nvPicPr>
        <p:blipFill rotWithShape="1">
          <a:blip r:embed="rId6">
            <a:alphaModFix/>
          </a:blip>
          <a:srcRect b="0" l="-394" r="-394" t="0"/>
          <a:stretch/>
        </p:blipFill>
        <p:spPr>
          <a:xfrm>
            <a:off x="3696005" y="6762902"/>
            <a:ext cx="57607" cy="266730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1"/>
          <p:cNvSpPr txBox="1"/>
          <p:nvPr/>
        </p:nvSpPr>
        <p:spPr>
          <a:xfrm>
            <a:off x="4019702" y="7048195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자료 ·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 txBox="1"/>
          <p:nvPr/>
        </p:nvSpPr>
        <p:spPr>
          <a:xfrm>
            <a:off x="4019702" y="7343546"/>
            <a:ext cx="4763110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은행 · 전 회차 자료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1"/>
          <p:cNvSpPr txBox="1"/>
          <p:nvPr/>
        </p:nvSpPr>
        <p:spPr>
          <a:xfrm>
            <a:off x="4019702" y="7842809"/>
            <a:ext cx="47631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복습·재도전용 자료 일체. 방학이 끝나도 자료는 남고, 필요할 때 다시 꺼내 쓸 수 있습니다.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9258300" y="6762902"/>
            <a:ext cx="5333695" cy="2667305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1"/>
          <p:cNvSpPr txBox="1"/>
          <p:nvPr/>
        </p:nvSpPr>
        <p:spPr>
          <a:xfrm>
            <a:off x="9581998" y="7048195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자료 ·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1"/>
          <p:cNvSpPr txBox="1"/>
          <p:nvPr/>
        </p:nvSpPr>
        <p:spPr>
          <a:xfrm>
            <a:off x="9581998" y="7343546"/>
            <a:ext cx="4763110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합격 인증 커뮤니티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1"/>
          <p:cNvSpPr txBox="1"/>
          <p:nvPr/>
        </p:nvSpPr>
        <p:spPr>
          <a:xfrm>
            <a:off x="9581998" y="7842809"/>
            <a:ext cx="54489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수료 후 지속되는 네트워크. 2기·3기 코치 기회, GCE Level 2 준비 동료.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1"/>
          <p:cNvSpPr txBox="1"/>
          <p:nvPr/>
        </p:nvSpPr>
        <p:spPr>
          <a:xfrm>
            <a:off x="914400" y="9753905"/>
            <a:ext cx="16459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제공 자료는 시험 결과와 무관하게 수강 시점에 전체 제공됩니다.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강사 소개 · 동행의 약속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2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12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cd91804bf0354876c262164e57acc02e.png" id="454" name="Google Shape;454;p32"/>
          <p:cNvPicPr preferRelativeResize="0"/>
          <p:nvPr/>
        </p:nvPicPr>
        <p:blipFill rotWithShape="1">
          <a:blip r:embed="rId3">
            <a:alphaModFix/>
          </a:blip>
          <a:srcRect b="-3" l="0" r="0" t="-3"/>
          <a:stretch/>
        </p:blipFill>
        <p:spPr>
          <a:xfrm>
            <a:off x="914400" y="1619402"/>
            <a:ext cx="114300" cy="495330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2"/>
          <p:cNvSpPr txBox="1"/>
          <p:nvPr/>
        </p:nvSpPr>
        <p:spPr>
          <a:xfrm>
            <a:off x="1429207" y="1809598"/>
            <a:ext cx="11239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STORY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2"/>
          <p:cNvSpPr txBox="1"/>
          <p:nvPr/>
        </p:nvSpPr>
        <p:spPr>
          <a:xfrm>
            <a:off x="1429200" y="2210100"/>
            <a:ext cx="11715300" cy="49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시니어와 교사에게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구글 AI를 가르쳐 온 </a:t>
            </a:r>
            <a:r>
              <a:rPr b="1" lang="en-US" sz="45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강사가</a:t>
            </a: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t/>
            </a:r>
            <a:endParaRPr b="1" sz="45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lang="en-US" sz="4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오프라인 현장 밀착 케어 보증</a:t>
            </a:r>
            <a:endParaRPr b="1" sz="45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</a:t>
            </a:r>
            <a:r>
              <a:rPr b="1" lang="en-US" sz="45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공간</a:t>
            </a: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에</a:t>
            </a:r>
            <a:r>
              <a:rPr b="1" lang="en-US" sz="4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동석하여 시험 접속 세팅부터 </a:t>
            </a:r>
            <a:endParaRPr b="1" sz="45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500"/>
              <a:buFont typeface="Noto Sans KR"/>
              <a:buNone/>
            </a:pPr>
            <a:r>
              <a:rPr b="1" lang="en-US" sz="45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멘탈</a:t>
            </a:r>
            <a:r>
              <a:rPr b="1" lang="en-US" sz="4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45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케어</a:t>
            </a:r>
            <a:r>
              <a:rPr b="1" lang="en-US" sz="4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b="1" lang="en-US" sz="45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자격증</a:t>
            </a:r>
            <a:r>
              <a:rPr b="1" lang="en-US" sz="4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45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신청</a:t>
            </a:r>
            <a:r>
              <a:rPr b="1" lang="en-US" sz="4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절차까지 완벽 지원</a:t>
            </a:r>
            <a:r>
              <a:rPr b="1" i="0" lang="en-US" sz="4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13144500" y="1619400"/>
            <a:ext cx="4498800" cy="4953300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58" name="Google Shape;458;p32"/>
          <p:cNvSpPr txBox="1"/>
          <p:nvPr/>
        </p:nvSpPr>
        <p:spPr>
          <a:xfrm>
            <a:off x="13430707" y="1904695"/>
            <a:ext cx="36576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강사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 txBox="1"/>
          <p:nvPr/>
        </p:nvSpPr>
        <p:spPr>
          <a:xfrm>
            <a:off x="13430707" y="2229307"/>
            <a:ext cx="4212641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300"/>
              <a:buFont typeface="Noto Sans KR"/>
              <a:buNone/>
            </a:pPr>
            <a:r>
              <a:rPr b="1" i="0" lang="en-US" sz="3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AI 교육 전문강사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0880ba1a1e97f66b2226f6f47aa45aca.png" id="460" name="Google Shape;460;p32"/>
          <p:cNvPicPr preferRelativeResize="0"/>
          <p:nvPr/>
        </p:nvPicPr>
        <p:blipFill rotWithShape="1">
          <a:blip r:embed="rId4">
            <a:alphaModFix/>
          </a:blip>
          <a:srcRect b="0" l="-2083" r="-2083" t="0"/>
          <a:stretch/>
        </p:blipFill>
        <p:spPr>
          <a:xfrm>
            <a:off x="13430707" y="3238805"/>
            <a:ext cx="36576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2"/>
          <p:cNvSpPr txBox="1"/>
          <p:nvPr/>
        </p:nvSpPr>
        <p:spPr>
          <a:xfrm>
            <a:off x="13448963" y="3486603"/>
            <a:ext cx="223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2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2"/>
          <p:cNvSpPr txBox="1"/>
          <p:nvPr/>
        </p:nvSpPr>
        <p:spPr>
          <a:xfrm>
            <a:off x="13671717" y="3486603"/>
            <a:ext cx="2018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거북이 AI 커뮤니티 운영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2"/>
          <p:cNvSpPr txBox="1"/>
          <p:nvPr/>
        </p:nvSpPr>
        <p:spPr>
          <a:xfrm>
            <a:off x="13448963" y="3889854"/>
            <a:ext cx="223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2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2"/>
          <p:cNvSpPr txBox="1"/>
          <p:nvPr/>
        </p:nvSpPr>
        <p:spPr>
          <a:xfrm>
            <a:off x="13671717" y="3889854"/>
            <a:ext cx="15156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구글 AI 강의 전문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13448963" y="4294017"/>
            <a:ext cx="223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2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13671717" y="4294017"/>
            <a:ext cx="26877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시니어·교사 대상 다년 강의 경험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13448963" y="4698182"/>
            <a:ext cx="223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2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4A853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13671728" y="4698174"/>
            <a:ext cx="2936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5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1~2  커리큘럼 설계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73fc56d7c30e07b8ca32eaffe983faae.png" id="469" name="Google Shape;469;p32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914400" y="7144207"/>
            <a:ext cx="164592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2"/>
          <p:cNvSpPr txBox="1"/>
          <p:nvPr/>
        </p:nvSpPr>
        <p:spPr>
          <a:xfrm>
            <a:off x="9753905" y="7524598"/>
            <a:ext cx="7620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추가 지원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 txBox="1"/>
          <p:nvPr/>
        </p:nvSpPr>
        <p:spPr>
          <a:xfrm>
            <a:off x="12073625" y="7830925"/>
            <a:ext cx="5301000" cy="6099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875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조교 지원자 2명 · 전액 장학</a:t>
            </a:r>
            <a:r>
              <a:rPr lang="en-US" sz="2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금 지원 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2"/>
          <p:cNvSpPr txBox="1"/>
          <p:nvPr/>
        </p:nvSpPr>
        <p:spPr>
          <a:xfrm>
            <a:off x="914400" y="9753905"/>
            <a:ext cx="16459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본 과정은 Google과 무관한 독립 교육 과정입니다. 자격 시험은 Google 공식 응시 절차를 따릅니다.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1274475" y="7715700"/>
            <a:ext cx="107310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875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b="1" lang="en-US" sz="2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짝꿍 챌린지* 응시자 한정 오프라인 시험 참여 가능</a:t>
            </a:r>
            <a:endParaRPr b="1" sz="25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9875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Noto Sans KR"/>
              <a:buNone/>
            </a:pPr>
            <a:r>
              <a:rPr lang="en-US" sz="2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짝꿍 챌린지란? 매주 1시간씩 매칭된 짝꿍과 함께 </a:t>
            </a:r>
            <a:r>
              <a:rPr lang="en-US" sz="2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배웠던 내용을 중심으로, </a:t>
            </a:r>
            <a:br>
              <a:rPr lang="en-US" sz="2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25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온라인에서 서로 묻고 답하여 함께 성장하는 동료 학습 프로그램</a:t>
            </a:r>
            <a:endParaRPr sz="2500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"/>
          <p:cNvSpPr txBox="1"/>
          <p:nvPr/>
        </p:nvSpPr>
        <p:spPr>
          <a:xfrm>
            <a:off x="9753905" y="609905"/>
            <a:ext cx="7620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14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3"/>
          <p:cNvSpPr txBox="1"/>
          <p:nvPr/>
        </p:nvSpPr>
        <p:spPr>
          <a:xfrm>
            <a:off x="914400" y="1429207"/>
            <a:ext cx="14287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값보다 </a:t>
            </a:r>
            <a:r>
              <a:rPr b="1" i="0" lang="en-US" sz="42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약속</a:t>
            </a:r>
            <a:r>
              <a:rPr b="1" i="0" lang="en-US" sz="4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을 먼저 봤습니다.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914400" y="2148840"/>
            <a:ext cx="14287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600"/>
              <a:buFont typeface="Noto Sans KR"/>
              <a:buNone/>
            </a:pPr>
            <a:r>
              <a:rPr b="0" i="0" lang="en-US" sz="24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아래는 이 커리큘럼의 값입니다.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914400" y="3581705"/>
            <a:ext cx="5352900" cy="4819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1200607" y="3866998"/>
            <a:ext cx="4763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1교시 · </a:t>
            </a:r>
            <a:r>
              <a:rPr b="1" lang="en-US" sz="19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1200607" y="4123944"/>
            <a:ext cx="476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2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12:30 ~ 14:30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f6dd79c93917ffed79f557d527666a45.png" id="485" name="Google Shape;485;p33"/>
          <p:cNvPicPr preferRelativeResize="0"/>
          <p:nvPr/>
        </p:nvPicPr>
        <p:blipFill rotWithShape="1">
          <a:blip r:embed="rId3">
            <a:alphaModFix/>
          </a:blip>
          <a:srcRect b="0" l="-2083" r="-2073" t="0"/>
          <a:stretch/>
        </p:blipFill>
        <p:spPr>
          <a:xfrm>
            <a:off x="1200607" y="4667098"/>
            <a:ext cx="4762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3"/>
          <p:cNvSpPr txBox="1"/>
          <p:nvPr/>
        </p:nvSpPr>
        <p:spPr>
          <a:xfrm>
            <a:off x="1200607" y="4953305"/>
            <a:ext cx="47631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6900"/>
              <a:buFont typeface="Noto Sans KR"/>
              <a:buNone/>
            </a:pPr>
            <a:r>
              <a:rPr b="1" lang="en-US" sz="69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22</a:t>
            </a:r>
            <a:r>
              <a:rPr b="1" i="0" lang="en-US" sz="27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만원 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3"/>
          <p:cNvSpPr txBox="1"/>
          <p:nvPr/>
        </p:nvSpPr>
        <p:spPr>
          <a:xfrm>
            <a:off x="1200607" y="6625742"/>
            <a:ext cx="47631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5주 · 2시간 × 5회 = 10</a:t>
            </a:r>
            <a:r>
              <a:rPr lang="en-US" sz="17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en-US" sz="17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GCE Level 1 실전 대비 전체 커리큘럼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수강 자료 일체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6476695" y="3581705"/>
            <a:ext cx="5352900" cy="4819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6762902" y="3866998"/>
            <a:ext cx="4763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2교시 · </a:t>
            </a:r>
            <a:r>
              <a:rPr b="1" lang="en-US" sz="1900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3"/>
          <p:cNvSpPr txBox="1"/>
          <p:nvPr/>
        </p:nvSpPr>
        <p:spPr>
          <a:xfrm>
            <a:off x="6762902" y="4123944"/>
            <a:ext cx="476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2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15:00 ~ 18:00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f6dd79c93917ffed79f557d527666a45.png" id="491" name="Google Shape;491;p33"/>
          <p:cNvPicPr preferRelativeResize="0"/>
          <p:nvPr/>
        </p:nvPicPr>
        <p:blipFill rotWithShape="1">
          <a:blip r:embed="rId3">
            <a:alphaModFix/>
          </a:blip>
          <a:srcRect b="0" l="-2083" r="-2073" t="0"/>
          <a:stretch/>
        </p:blipFill>
        <p:spPr>
          <a:xfrm>
            <a:off x="6762902" y="4667098"/>
            <a:ext cx="4762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 txBox="1"/>
          <p:nvPr/>
        </p:nvSpPr>
        <p:spPr>
          <a:xfrm>
            <a:off x="6762902" y="4953305"/>
            <a:ext cx="47631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6900"/>
              <a:buFont typeface="Noto Sans KR"/>
              <a:buNone/>
            </a:pPr>
            <a:r>
              <a:rPr b="1" lang="en-US" sz="69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33</a:t>
            </a:r>
            <a:r>
              <a:rPr b="1" i="0" lang="en-US" sz="27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만원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3"/>
          <p:cNvSpPr txBox="1"/>
          <p:nvPr/>
        </p:nvSpPr>
        <p:spPr>
          <a:xfrm>
            <a:off x="6762902" y="6625742"/>
            <a:ext cx="47631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5주 · 3시간 × 5회 = 15</a:t>
            </a:r>
            <a:r>
              <a:rPr lang="en-US" sz="17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GCE Level </a:t>
            </a:r>
            <a:r>
              <a:rPr lang="en-US" sz="17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실전 대비 전체 커리큘럼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실습 랩 · 문제 은행 · 5주차 실전 응시일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3"/>
          <p:cNvSpPr/>
          <p:nvPr/>
        </p:nvSpPr>
        <p:spPr>
          <a:xfrm>
            <a:off x="12039905" y="3581705"/>
            <a:ext cx="5333700" cy="480060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3"/>
          <p:cNvSpPr/>
          <p:nvPr/>
        </p:nvSpPr>
        <p:spPr>
          <a:xfrm>
            <a:off x="12039905" y="3238805"/>
            <a:ext cx="1904700" cy="418800"/>
          </a:xfrm>
          <a:prstGeom prst="rect">
            <a:avLst/>
          </a:prstGeom>
          <a:solidFill>
            <a:srgbClr val="FBBC0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3"/>
          <p:cNvSpPr txBox="1"/>
          <p:nvPr/>
        </p:nvSpPr>
        <p:spPr>
          <a:xfrm>
            <a:off x="12230100" y="3353105"/>
            <a:ext cx="1714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RECOMMENDED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3"/>
          <p:cNvSpPr txBox="1"/>
          <p:nvPr/>
        </p:nvSpPr>
        <p:spPr>
          <a:xfrm>
            <a:off x="12325198" y="3866998"/>
            <a:ext cx="4763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💎 올데이 패스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3"/>
          <p:cNvSpPr txBox="1"/>
          <p:nvPr/>
        </p:nvSpPr>
        <p:spPr>
          <a:xfrm>
            <a:off x="12325198" y="4123944"/>
            <a:ext cx="476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12:30 ~ 18:00 · 1+2교시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d9fadfee6d0b05364208744b94ea9389.png" id="499" name="Google Shape;499;p33"/>
          <p:cNvPicPr preferRelativeResize="0"/>
          <p:nvPr/>
        </p:nvPicPr>
        <p:blipFill rotWithShape="1">
          <a:blip r:embed="rId4">
            <a:alphaModFix/>
          </a:blip>
          <a:srcRect b="0" l="-2083" r="-2073" t="0"/>
          <a:stretch/>
        </p:blipFill>
        <p:spPr>
          <a:xfrm>
            <a:off x="12325198" y="4667098"/>
            <a:ext cx="4762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3"/>
          <p:cNvSpPr txBox="1"/>
          <p:nvPr/>
        </p:nvSpPr>
        <p:spPr>
          <a:xfrm>
            <a:off x="12325198" y="4953305"/>
            <a:ext cx="4763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Noto Sans KR"/>
              <a:buNone/>
            </a:pPr>
            <a:r>
              <a:rPr b="1" lang="en-US" sz="6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44</a:t>
            </a:r>
            <a:r>
              <a:rPr b="1" i="0" lang="en-US" sz="27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만원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3"/>
          <p:cNvSpPr txBox="1"/>
          <p:nvPr/>
        </p:nvSpPr>
        <p:spPr>
          <a:xfrm>
            <a:off x="12325198" y="6017666"/>
            <a:ext cx="476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50만원 → 40만원 · 10만원 할인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3"/>
          <p:cNvSpPr txBox="1"/>
          <p:nvPr/>
        </p:nvSpPr>
        <p:spPr>
          <a:xfrm>
            <a:off x="12325198" y="6625742"/>
            <a:ext cx="47631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1교시 + 2교시 전체 수강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5주 · </a:t>
            </a:r>
            <a:r>
              <a:rPr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5시간</a:t>
            </a: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× 5회 = 25</a:t>
            </a:r>
            <a:r>
              <a:rPr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하루 안에 + 구글 자격 모두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73fc56d7c30e07b8ca32eaffe983faae.png" id="503" name="Google Shape;503;p33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914400" y="8762695"/>
            <a:ext cx="164592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3"/>
          <p:cNvSpPr txBox="1"/>
          <p:nvPr/>
        </p:nvSpPr>
        <p:spPr>
          <a:xfrm>
            <a:off x="914400" y="8812997"/>
            <a:ext cx="133356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769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3"/>
          <p:cNvSpPr txBox="1"/>
          <p:nvPr/>
        </p:nvSpPr>
        <p:spPr>
          <a:xfrm>
            <a:off x="914400" y="8832344"/>
            <a:ext cx="148224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200"/>
              <a:buFont typeface="Noto Sans KR"/>
              <a:buNone/>
            </a:pPr>
            <a:r>
              <a:rPr b="1" lang="en-US" sz="64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현금 결제</a:t>
            </a:r>
            <a:r>
              <a:rPr b="1" i="0" lang="en-US" sz="6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6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20 / 30 / 40 만원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3"/>
          <p:cNvSpPr txBox="1"/>
          <p:nvPr/>
        </p:nvSpPr>
        <p:spPr>
          <a:xfrm>
            <a:off x="914400" y="2879457"/>
            <a:ext cx="14287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200"/>
              <a:buFont typeface="Noto Sans KR"/>
              <a:buNone/>
            </a:pPr>
            <a:r>
              <a:rPr b="1" lang="en-US" sz="42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카드 결제(VAT 포함가)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"/>
          <p:cNvSpPr/>
          <p:nvPr/>
        </p:nvSpPr>
        <p:spPr>
          <a:xfrm>
            <a:off x="731839" y="8762700"/>
            <a:ext cx="10107900" cy="1284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4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14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4"/>
          <p:cNvSpPr txBox="1"/>
          <p:nvPr/>
        </p:nvSpPr>
        <p:spPr>
          <a:xfrm>
            <a:off x="914400" y="1429207"/>
            <a:ext cx="14287500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값보다 </a:t>
            </a:r>
            <a:r>
              <a:rPr b="1" i="0" lang="en-US" sz="42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약속</a:t>
            </a:r>
            <a:r>
              <a:rPr b="1" i="0" lang="en-US" sz="42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을 먼저 봤습니다.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4"/>
          <p:cNvSpPr txBox="1"/>
          <p:nvPr/>
        </p:nvSpPr>
        <p:spPr>
          <a:xfrm>
            <a:off x="914400" y="2148840"/>
            <a:ext cx="1428750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600"/>
              <a:buFont typeface="Noto Sans KR"/>
              <a:buNone/>
            </a:pPr>
            <a:r>
              <a:rPr b="0" i="0" lang="en-US" sz="24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아래는 이 커리큘럼의 값입니다.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4"/>
          <p:cNvSpPr/>
          <p:nvPr/>
        </p:nvSpPr>
        <p:spPr>
          <a:xfrm>
            <a:off x="914400" y="3581705"/>
            <a:ext cx="5352900" cy="4819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4"/>
          <p:cNvSpPr txBox="1"/>
          <p:nvPr/>
        </p:nvSpPr>
        <p:spPr>
          <a:xfrm>
            <a:off x="1200607" y="3866998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1교시 · </a:t>
            </a:r>
            <a:r>
              <a:rPr b="1" lang="en-US" sz="19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4"/>
          <p:cNvSpPr txBox="1"/>
          <p:nvPr/>
        </p:nvSpPr>
        <p:spPr>
          <a:xfrm>
            <a:off x="1200607" y="4123944"/>
            <a:ext cx="47631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2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12:30 ~ 14:30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f6dd79c93917ffed79f557d527666a45.png" id="519" name="Google Shape;519;p34"/>
          <p:cNvPicPr preferRelativeResize="0"/>
          <p:nvPr/>
        </p:nvPicPr>
        <p:blipFill rotWithShape="1">
          <a:blip r:embed="rId3">
            <a:alphaModFix/>
          </a:blip>
          <a:srcRect b="0" l="-2078" r="-2078" t="0"/>
          <a:stretch/>
        </p:blipFill>
        <p:spPr>
          <a:xfrm>
            <a:off x="1200607" y="4667098"/>
            <a:ext cx="4762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4"/>
          <p:cNvSpPr txBox="1"/>
          <p:nvPr/>
        </p:nvSpPr>
        <p:spPr>
          <a:xfrm>
            <a:off x="1200607" y="4953305"/>
            <a:ext cx="4763110" cy="105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6900"/>
              <a:buFont typeface="Noto Sans KR"/>
              <a:buNone/>
            </a:pPr>
            <a:r>
              <a:rPr b="1" lang="en-US" sz="69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22</a:t>
            </a:r>
            <a:r>
              <a:rPr b="1" i="0" lang="en-US" sz="27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만원 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4"/>
          <p:cNvSpPr txBox="1"/>
          <p:nvPr/>
        </p:nvSpPr>
        <p:spPr>
          <a:xfrm>
            <a:off x="1200607" y="6625742"/>
            <a:ext cx="4763110" cy="842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5주 · 2시간 × 5회 = 10</a:t>
            </a:r>
            <a:r>
              <a:rPr lang="en-US" sz="17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en-US" sz="17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GCE Level 1 실전 대비 전체 커리큘럼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수강 자료 일체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6476695" y="3581705"/>
            <a:ext cx="5352898" cy="481980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4"/>
          <p:cNvSpPr txBox="1"/>
          <p:nvPr/>
        </p:nvSpPr>
        <p:spPr>
          <a:xfrm>
            <a:off x="6762902" y="3866998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Noto Sans KR"/>
              <a:buNone/>
            </a:pPr>
            <a:r>
              <a:rPr b="1" i="0" lang="en-US" sz="19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2교시 · </a:t>
            </a:r>
            <a:r>
              <a:rPr b="1" lang="en-US" sz="1900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GCE Level 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4"/>
          <p:cNvSpPr txBox="1"/>
          <p:nvPr/>
        </p:nvSpPr>
        <p:spPr>
          <a:xfrm>
            <a:off x="6762902" y="4123944"/>
            <a:ext cx="47631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2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15:00 ~ 18:00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f6dd79c93917ffed79f557d527666a45.png" id="525" name="Google Shape;525;p34"/>
          <p:cNvPicPr preferRelativeResize="0"/>
          <p:nvPr/>
        </p:nvPicPr>
        <p:blipFill rotWithShape="1">
          <a:blip r:embed="rId3">
            <a:alphaModFix/>
          </a:blip>
          <a:srcRect b="0" l="-2078" r="-2078" t="0"/>
          <a:stretch/>
        </p:blipFill>
        <p:spPr>
          <a:xfrm>
            <a:off x="6762902" y="4667098"/>
            <a:ext cx="4762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4"/>
          <p:cNvSpPr txBox="1"/>
          <p:nvPr/>
        </p:nvSpPr>
        <p:spPr>
          <a:xfrm>
            <a:off x="6762902" y="4953305"/>
            <a:ext cx="4763110" cy="105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6900"/>
              <a:buFont typeface="Noto Sans KR"/>
              <a:buNone/>
            </a:pPr>
            <a:r>
              <a:rPr b="1" lang="en-US" sz="69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33</a:t>
            </a:r>
            <a:r>
              <a:rPr b="1" i="0" lang="en-US" sz="27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만원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4"/>
          <p:cNvSpPr txBox="1"/>
          <p:nvPr/>
        </p:nvSpPr>
        <p:spPr>
          <a:xfrm>
            <a:off x="6762902" y="6625742"/>
            <a:ext cx="4763110" cy="842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5주 · 3시간 × 5회 = 15</a:t>
            </a:r>
            <a:r>
              <a:rPr lang="en-US" sz="17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GCE Level </a:t>
            </a:r>
            <a:r>
              <a:rPr lang="en-US" sz="17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실전 대비 전체 커리큘럼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· 실습 랩 · 문제 은행 · 5주차 실전 응시일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4"/>
          <p:cNvSpPr/>
          <p:nvPr/>
        </p:nvSpPr>
        <p:spPr>
          <a:xfrm>
            <a:off x="12039905" y="3581705"/>
            <a:ext cx="5333695" cy="480060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4"/>
          <p:cNvSpPr/>
          <p:nvPr/>
        </p:nvSpPr>
        <p:spPr>
          <a:xfrm>
            <a:off x="12039905" y="3238805"/>
            <a:ext cx="1904695" cy="418795"/>
          </a:xfrm>
          <a:prstGeom prst="rect">
            <a:avLst/>
          </a:prstGeom>
          <a:solidFill>
            <a:srgbClr val="FBBC0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4"/>
          <p:cNvSpPr txBox="1"/>
          <p:nvPr/>
        </p:nvSpPr>
        <p:spPr>
          <a:xfrm>
            <a:off x="12230100" y="3353105"/>
            <a:ext cx="1714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RECOMMENDED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4"/>
          <p:cNvSpPr txBox="1"/>
          <p:nvPr/>
        </p:nvSpPr>
        <p:spPr>
          <a:xfrm>
            <a:off x="12325198" y="3866998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💎 올데이 패스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4"/>
          <p:cNvSpPr txBox="1"/>
          <p:nvPr/>
        </p:nvSpPr>
        <p:spPr>
          <a:xfrm>
            <a:off x="12325198" y="4123944"/>
            <a:ext cx="47631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12:30 ~ 18:00 · 1+2교시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d9fadfee6d0b05364208744b94ea9389.png" id="533" name="Google Shape;533;p34"/>
          <p:cNvPicPr preferRelativeResize="0"/>
          <p:nvPr/>
        </p:nvPicPr>
        <p:blipFill rotWithShape="1">
          <a:blip r:embed="rId4">
            <a:alphaModFix/>
          </a:blip>
          <a:srcRect b="0" l="-2078" r="-2078" t="0"/>
          <a:stretch/>
        </p:blipFill>
        <p:spPr>
          <a:xfrm>
            <a:off x="12325198" y="4667098"/>
            <a:ext cx="4762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4"/>
          <p:cNvSpPr txBox="1"/>
          <p:nvPr/>
        </p:nvSpPr>
        <p:spPr>
          <a:xfrm>
            <a:off x="12325198" y="4953305"/>
            <a:ext cx="4763110" cy="1010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Noto Sans KR"/>
              <a:buNone/>
            </a:pPr>
            <a:r>
              <a:rPr b="1" lang="en-US" sz="6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44</a:t>
            </a:r>
            <a:r>
              <a:rPr b="1" i="0" lang="en-US" sz="27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만원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4"/>
          <p:cNvSpPr txBox="1"/>
          <p:nvPr/>
        </p:nvSpPr>
        <p:spPr>
          <a:xfrm>
            <a:off x="12325198" y="6017666"/>
            <a:ext cx="47631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50만원 → 40만원 · 10만원 할인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4"/>
          <p:cNvSpPr txBox="1"/>
          <p:nvPr/>
        </p:nvSpPr>
        <p:spPr>
          <a:xfrm>
            <a:off x="12325198" y="6625742"/>
            <a:ext cx="4763110" cy="842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1교시 + 2교시 전체 수강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5주 · </a:t>
            </a:r>
            <a:r>
              <a:rPr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5시간</a:t>
            </a: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× 5회 = 25</a:t>
            </a:r>
            <a:r>
              <a:rPr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· 하루 안에 + 구글 자격 모두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73fc56d7c30e07b8ca32eaffe983faae.png" id="537" name="Google Shape;537;p34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914400" y="8762695"/>
            <a:ext cx="164592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4"/>
          <p:cNvSpPr txBox="1"/>
          <p:nvPr/>
        </p:nvSpPr>
        <p:spPr>
          <a:xfrm>
            <a:off x="914400" y="8812997"/>
            <a:ext cx="133356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769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4"/>
          <p:cNvSpPr txBox="1"/>
          <p:nvPr/>
        </p:nvSpPr>
        <p:spPr>
          <a:xfrm>
            <a:off x="914400" y="8832344"/>
            <a:ext cx="148224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200"/>
              <a:buFont typeface="Noto Sans KR"/>
              <a:buNone/>
            </a:pPr>
            <a:r>
              <a:rPr b="1" lang="en-US" sz="64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현금 결제</a:t>
            </a:r>
            <a:r>
              <a:rPr b="1" i="0" lang="en-US" sz="6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6400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15 / 25 / 35 만원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4"/>
          <p:cNvSpPr txBox="1"/>
          <p:nvPr/>
        </p:nvSpPr>
        <p:spPr>
          <a:xfrm>
            <a:off x="914400" y="2879457"/>
            <a:ext cx="14287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4200"/>
              <a:buFont typeface="Noto Sans KR"/>
              <a:buNone/>
            </a:pPr>
            <a:r>
              <a:rPr b="1" lang="en-US" sz="42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카드 결제(VAT 포함가)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5"/>
          <p:cNvSpPr txBox="1"/>
          <p:nvPr/>
        </p:nvSpPr>
        <p:spPr>
          <a:xfrm>
            <a:off x="914400" y="609905"/>
            <a:ext cx="85725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결정하는 이유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5"/>
          <p:cNvSpPr txBox="1"/>
          <p:nvPr/>
        </p:nvSpPr>
        <p:spPr>
          <a:xfrm>
            <a:off x="9753905" y="609905"/>
            <a:ext cx="7620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15 /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5"/>
          <p:cNvSpPr txBox="1"/>
          <p:nvPr/>
        </p:nvSpPr>
        <p:spPr>
          <a:xfrm>
            <a:off x="914400" y="1619402"/>
            <a:ext cx="16459200" cy="154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400"/>
              <a:buFont typeface="Noto Sans KR"/>
              <a:buNone/>
            </a:pPr>
            <a:r>
              <a:rPr b="1" i="0" lang="en-US" sz="5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“다음에 할게요”가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5400"/>
              <a:buFont typeface="Noto Sans KR"/>
              <a:buNone/>
            </a:pPr>
            <a:r>
              <a:rPr b="1" i="0" lang="en-US" sz="5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실제로 </a:t>
            </a:r>
            <a:r>
              <a:rPr b="1" i="0" lang="en-US" sz="54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얼마나 비싼지</a:t>
            </a:r>
            <a:r>
              <a:rPr b="1" i="0" lang="en-US" sz="54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 계산해 봤습니다.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5"/>
          <p:cNvSpPr/>
          <p:nvPr/>
        </p:nvSpPr>
        <p:spPr>
          <a:xfrm>
            <a:off x="914400" y="4343400"/>
            <a:ext cx="5333695" cy="4000500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5"/>
          <p:cNvSpPr txBox="1"/>
          <p:nvPr/>
        </p:nvSpPr>
        <p:spPr>
          <a:xfrm>
            <a:off x="1200607" y="4629607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비용 ·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5"/>
          <p:cNvSpPr txBox="1"/>
          <p:nvPr/>
        </p:nvSpPr>
        <p:spPr>
          <a:xfrm>
            <a:off x="1200607" y="4943246"/>
            <a:ext cx="476311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이번 여름의 창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5"/>
          <p:cNvSpPr txBox="1"/>
          <p:nvPr/>
        </p:nvSpPr>
        <p:spPr>
          <a:xfrm>
            <a:off x="1200607" y="5507431"/>
            <a:ext cx="476311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방학이 지나면 2학기 · 학사 일정 · 저녁 회의 </a:t>
            </a:r>
            <a:endParaRPr b="0" i="0" sz="130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— 자기계발 시간은 사실상 사라집니다.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5"/>
          <p:cNvSpPr txBox="1"/>
          <p:nvPr/>
        </p:nvSpPr>
        <p:spPr>
          <a:xfrm>
            <a:off x="1200607" y="6320333"/>
            <a:ext cx="47631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3900"/>
              <a:buFont typeface="Noto Sans KR"/>
              <a:buNone/>
            </a:pPr>
            <a:r>
              <a:rPr b="1" i="0" lang="en-US" sz="39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−1년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5"/>
          <p:cNvSpPr txBox="1"/>
          <p:nvPr/>
        </p:nvSpPr>
        <p:spPr>
          <a:xfrm>
            <a:off x="1200607" y="6872630"/>
            <a:ext cx="47631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다음 창까지 대기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5"/>
          <p:cNvSpPr/>
          <p:nvPr/>
        </p:nvSpPr>
        <p:spPr>
          <a:xfrm>
            <a:off x="6476695" y="4343400"/>
            <a:ext cx="5333695" cy="4000500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5"/>
          <p:cNvSpPr txBox="1"/>
          <p:nvPr/>
        </p:nvSpPr>
        <p:spPr>
          <a:xfrm>
            <a:off x="6762902" y="4629607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비용 ·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5"/>
          <p:cNvSpPr txBox="1"/>
          <p:nvPr/>
        </p:nvSpPr>
        <p:spPr>
          <a:xfrm>
            <a:off x="6762902" y="4943246"/>
            <a:ext cx="476311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실습 시험의 벽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5"/>
          <p:cNvSpPr txBox="1"/>
          <p:nvPr/>
        </p:nvSpPr>
        <p:spPr>
          <a:xfrm>
            <a:off x="6762902" y="5507431"/>
            <a:ext cx="476311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독학 시 실습 시험 3종에서 대부분이 무너집니다. </a:t>
            </a:r>
            <a:endParaRPr b="0" i="0" sz="1300" u="none" cap="none" strike="noStrike">
              <a:solidFill>
                <a:srgbClr val="0A0A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재응시 비용, 재준비 시간, 그리고 “다시 도전” 자체의 심리적 비용.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5"/>
          <p:cNvSpPr txBox="1"/>
          <p:nvPr/>
        </p:nvSpPr>
        <p:spPr>
          <a:xfrm>
            <a:off x="6762902" y="6320333"/>
            <a:ext cx="47631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3900"/>
              <a:buFont typeface="Noto Sans KR"/>
              <a:buNone/>
            </a:pPr>
            <a:r>
              <a:rPr b="1" i="0" lang="en-US" sz="39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×3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5"/>
          <p:cNvSpPr txBox="1"/>
          <p:nvPr/>
        </p:nvSpPr>
        <p:spPr>
          <a:xfrm>
            <a:off x="6762902" y="6872630"/>
            <a:ext cx="47631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재도전 횟수 · 독학 기준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5"/>
          <p:cNvSpPr/>
          <p:nvPr/>
        </p:nvSpPr>
        <p:spPr>
          <a:xfrm>
            <a:off x="12039905" y="4343400"/>
            <a:ext cx="5333695" cy="400050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5"/>
          <p:cNvSpPr txBox="1"/>
          <p:nvPr/>
        </p:nvSpPr>
        <p:spPr>
          <a:xfrm>
            <a:off x="12325198" y="4629607"/>
            <a:ext cx="4763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비용 ·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5"/>
          <p:cNvSpPr txBox="1"/>
          <p:nvPr/>
        </p:nvSpPr>
        <p:spPr>
          <a:xfrm>
            <a:off x="12325198" y="4943246"/>
            <a:ext cx="476311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한시적 무료 응시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5"/>
          <p:cNvSpPr txBox="1"/>
          <p:nvPr/>
        </p:nvSpPr>
        <p:spPr>
          <a:xfrm>
            <a:off x="12325198" y="5507431"/>
            <a:ext cx="476311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2026년 여름, 한시적으로 시험 응시 무료 기회가 확정된 기간입니다. 이 창을 놓치면 응시료가 되살아납니다.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5"/>
          <p:cNvSpPr txBox="1"/>
          <p:nvPr/>
        </p:nvSpPr>
        <p:spPr>
          <a:xfrm>
            <a:off x="12325198" y="6320333"/>
            <a:ext cx="476311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4"/>
              </a:buClr>
              <a:buSzPts val="3900"/>
              <a:buFont typeface="Noto Sans KR"/>
              <a:buNone/>
            </a:pPr>
            <a:r>
              <a:rPr b="1" i="0" lang="en-US" sz="3900" u="none" cap="none" strike="noStrike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무료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5"/>
          <p:cNvSpPr txBox="1"/>
          <p:nvPr/>
        </p:nvSpPr>
        <p:spPr>
          <a:xfrm>
            <a:off x="12325198" y="6946697"/>
            <a:ext cx="47631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A"/>
              </a:buClr>
              <a:buSzPts val="1000"/>
              <a:buFont typeface="Noto Sans KR"/>
              <a:buNone/>
            </a:pPr>
            <a:r>
              <a:rPr b="0" i="0" lang="en-US" sz="1700" u="none" cap="none" strike="noStrike">
                <a:solidFill>
                  <a:srgbClr val="DDDDDA"/>
                </a:solidFill>
                <a:latin typeface="Noto Sans KR"/>
                <a:ea typeface="Noto Sans KR"/>
                <a:cs typeface="Noto Sans KR"/>
                <a:sym typeface="Noto Sans KR"/>
              </a:rPr>
              <a:t>여름 한정 · 확정 후 최종 안내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5"/>
          <p:cNvSpPr txBox="1"/>
          <p:nvPr/>
        </p:nvSpPr>
        <p:spPr>
          <a:xfrm>
            <a:off x="914400" y="8953805"/>
            <a:ext cx="1645920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9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“지금 결정한다”는 지출이 아니라 </a:t>
            </a:r>
            <a:r>
              <a:rPr b="1" i="0" lang="en-US" sz="3600" u="none" cap="none" strike="noStrike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1년</a:t>
            </a:r>
            <a:r>
              <a:rPr b="1" i="0" lang="en-US" sz="3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b="1" i="0" lang="en-US" sz="3600" u="none" cap="none" strike="noStrike">
                <a:solidFill>
                  <a:srgbClr val="EA4335"/>
                </a:solidFill>
                <a:latin typeface="Noto Sans KR"/>
                <a:ea typeface="Noto Sans KR"/>
                <a:cs typeface="Noto Sans KR"/>
                <a:sym typeface="Noto Sans KR"/>
              </a:rPr>
              <a:t>3번의 재도전</a:t>
            </a:r>
            <a:r>
              <a:rPr b="1" i="0" lang="en-US" sz="3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b="1" i="0" lang="en-US" sz="3600" u="none" cap="none" strike="noStrike">
                <a:solidFill>
                  <a:srgbClr val="F9A825"/>
                </a:solidFill>
                <a:latin typeface="Noto Sans KR"/>
                <a:ea typeface="Noto Sans KR"/>
                <a:cs typeface="Noto Sans KR"/>
                <a:sym typeface="Noto Sans KR"/>
              </a:rPr>
              <a:t>응시료</a:t>
            </a:r>
            <a:r>
              <a:rPr b="1" i="0" lang="en-US" sz="3600" u="none" cap="none" strike="noStrike">
                <a:solidFill>
                  <a:srgbClr val="0A0A0A"/>
                </a:solidFill>
                <a:latin typeface="Noto Sans KR"/>
                <a:ea typeface="Noto Sans KR"/>
                <a:cs typeface="Noto Sans KR"/>
                <a:sym typeface="Noto Sans KR"/>
              </a:rPr>
              <a:t>를 아끼는 결정입니다.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5"/>
          <p:cNvSpPr txBox="1"/>
          <p:nvPr/>
        </p:nvSpPr>
        <p:spPr>
          <a:xfrm>
            <a:off x="914400" y="9810598"/>
            <a:ext cx="164592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한시적 무료 응시 조건은 Google 정책에 따라 변동될 수 있으며, 확정 시점 기준 최종 안내됩니다.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6"/>
          <p:cNvSpPr txBox="1"/>
          <p:nvPr/>
        </p:nvSpPr>
        <p:spPr>
          <a:xfrm>
            <a:off x="914400" y="609600"/>
            <a:ext cx="857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285F4"/>
                </a:solidFill>
                <a:latin typeface="Noto Sans KR"/>
                <a:ea typeface="Noto Sans KR"/>
                <a:cs typeface="Noto Sans KR"/>
                <a:sym typeface="Noto Sans KR"/>
              </a:rPr>
              <a:t>신청</a:t>
            </a:r>
            <a:endParaRPr b="1" sz="1400">
              <a:solidFill>
                <a:srgbClr val="4285F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5" name="Google Shape;575;p36"/>
          <p:cNvSpPr txBox="1"/>
          <p:nvPr/>
        </p:nvSpPr>
        <p:spPr>
          <a:xfrm>
            <a:off x="9753600" y="609600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80868B"/>
                </a:solidFill>
                <a:latin typeface="Noto Sans KR"/>
                <a:ea typeface="Noto Sans KR"/>
                <a:cs typeface="Noto Sans KR"/>
                <a:sym typeface="Noto Sans KR"/>
              </a:rPr>
              <a:t>16 / 16</a:t>
            </a:r>
            <a:endParaRPr b="0" sz="1400">
              <a:solidFill>
                <a:srgbClr val="8086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576" name="Google Shape;576;p36"/>
          <p:cNvGrpSpPr/>
          <p:nvPr/>
        </p:nvGrpSpPr>
        <p:grpSpPr>
          <a:xfrm>
            <a:off x="914400" y="1524000"/>
            <a:ext cx="16459200" cy="3429000"/>
            <a:chOff x="0" y="0"/>
            <a:chExt cx="16459200" cy="3429000"/>
          </a:xfrm>
        </p:grpSpPr>
        <p:sp>
          <p:nvSpPr>
            <p:cNvPr id="577" name="Google Shape;577;p36"/>
            <p:cNvSpPr/>
            <p:nvPr/>
          </p:nvSpPr>
          <p:spPr>
            <a:xfrm>
              <a:off x="0" y="0"/>
              <a:ext cx="16459200" cy="3429000"/>
            </a:xfrm>
            <a:prstGeom prst="roundRect">
              <a:avLst>
                <a:gd fmla="val 6666" name="adj"/>
              </a:avLst>
            </a:prstGeom>
            <a:solidFill>
              <a:srgbClr val="1A1C24"/>
            </a:solidFill>
            <a:ln cap="flat" cmpd="sng" w="19050">
              <a:solidFill>
                <a:srgbClr val="3336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0" y="0"/>
              <a:ext cx="16459200" cy="762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0" y="0"/>
              <a:ext cx="41148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7620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4114800" y="0"/>
              <a:ext cx="41148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76200">
              <a:solidFill>
                <a:srgbClr val="EA43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8229600" y="0"/>
              <a:ext cx="41148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76200">
              <a:solidFill>
                <a:srgbClr val="FBBC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12344400" y="0"/>
              <a:ext cx="41148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76200">
              <a:solidFill>
                <a:srgbClr val="34A8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6"/>
            <p:cNvSpPr txBox="1"/>
            <p:nvPr/>
          </p:nvSpPr>
          <p:spPr>
            <a:xfrm>
              <a:off x="571500" y="476250"/>
              <a:ext cx="153162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BBC0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🚀 1기 · 20명 정원 · 8월 2일 시작</a:t>
              </a:r>
              <a:endParaRPr b="1" sz="2000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5600">
                  <a:solidFill>
                    <a:srgbClr val="4285F4"/>
                  </a:solidFill>
                  <a:uFill>
                    <a:noFill/>
                  </a:uFill>
                  <a:latin typeface="Noto Sans KR"/>
                  <a:ea typeface="Noto Sans KR"/>
                  <a:cs typeface="Noto Sans KR"/>
                  <a:sym typeface="Noto Sans KR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구글 공인 교육자</a:t>
              </a:r>
              <a:r>
                <a:rPr b="0" lang="en-US" sz="5600">
                  <a:solidFill>
                    <a:srgbClr val="FFFFFF"/>
                  </a:solidFill>
                  <a:uFill>
                    <a:noFill/>
                  </a:uFill>
                  <a:latin typeface="Noto Sans KR"/>
                  <a:ea typeface="Noto Sans KR"/>
                  <a:cs typeface="Noto Sans KR"/>
                  <a:sym typeface="Noto Sans KR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 바로 신청하기 </a:t>
              </a:r>
              <a:r>
                <a:rPr b="0" lang="en-US" sz="5600">
                  <a:solidFill>
                    <a:srgbClr val="34A853"/>
                  </a:solidFill>
                  <a:uFill>
                    <a:noFill/>
                  </a:uFill>
                  <a:latin typeface="Noto Sans KR"/>
                  <a:ea typeface="Noto Sans KR"/>
                  <a:cs typeface="Noto Sans KR"/>
                  <a:sym typeface="Noto Sans KR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(클릭)</a:t>
              </a:r>
              <a:endParaRPr b="0" sz="5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5000" u="sng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https://forms.gle/DxTUXRsK4thDjLyD7</a:t>
              </a:r>
              <a:endParaRPr sz="50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584" name="Google Shape;584;p36"/>
          <p:cNvSpPr txBox="1"/>
          <p:nvPr/>
        </p:nvSpPr>
        <p:spPr>
          <a:xfrm>
            <a:off x="914400" y="5429250"/>
            <a:ext cx="857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신청 절차 안내</a:t>
            </a:r>
            <a:endParaRPr b="1" sz="24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585" name="Google Shape;585;p36"/>
          <p:cNvGrpSpPr/>
          <p:nvPr/>
        </p:nvGrpSpPr>
        <p:grpSpPr>
          <a:xfrm>
            <a:off x="914400" y="5905500"/>
            <a:ext cx="16459200" cy="2476500"/>
            <a:chOff x="0" y="0"/>
            <a:chExt cx="16459200" cy="2476500"/>
          </a:xfrm>
        </p:grpSpPr>
        <p:sp>
          <p:nvSpPr>
            <p:cNvPr id="586" name="Google Shape;586;p36"/>
            <p:cNvSpPr/>
            <p:nvPr/>
          </p:nvSpPr>
          <p:spPr>
            <a:xfrm>
              <a:off x="0" y="0"/>
              <a:ext cx="5181600" cy="2476500"/>
            </a:xfrm>
            <a:prstGeom prst="roundRect">
              <a:avLst>
                <a:gd fmla="val 6153" name="adj"/>
              </a:avLst>
            </a:prstGeom>
            <a:solidFill>
              <a:srgbClr val="1A1C24"/>
            </a:solidFill>
            <a:ln cap="flat" cmpd="sng" w="1905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587" name="Google Shape;587;p36"/>
            <p:cNvSpPr txBox="1"/>
            <p:nvPr/>
          </p:nvSpPr>
          <p:spPr>
            <a:xfrm>
              <a:off x="381000" y="381000"/>
              <a:ext cx="4419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01</a:t>
              </a:r>
              <a:r>
                <a:rPr b="1" lang="en-US" sz="2000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구글폼 신청</a:t>
              </a:r>
              <a:endParaRPr sz="2200"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구글 폼 신청서 작성</a:t>
              </a:r>
              <a:endParaRPr b="1" sz="2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200" u="sng">
                  <a:solidFill>
                    <a:srgbClr val="4285F4"/>
                  </a:solidFill>
                  <a:latin typeface="Noto Sans KR"/>
                  <a:ea typeface="Noto Sans KR"/>
                  <a:cs typeface="Noto Sans KR"/>
                  <a:sym typeface="Noto Sans KR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상단 바로가기 링크 클릭</a:t>
              </a:r>
              <a:endParaRPr sz="22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5638800" y="0"/>
              <a:ext cx="5181600" cy="2476500"/>
            </a:xfrm>
            <a:prstGeom prst="roundRect">
              <a:avLst>
                <a:gd fmla="val 6153" name="adj"/>
              </a:avLst>
            </a:prstGeom>
            <a:solidFill>
              <a:srgbClr val="1A1C24"/>
            </a:solidFill>
            <a:ln cap="flat" cmpd="sng" w="19050">
              <a:solidFill>
                <a:srgbClr val="EA43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589" name="Google Shape;589;p36"/>
            <p:cNvSpPr txBox="1"/>
            <p:nvPr/>
          </p:nvSpPr>
          <p:spPr>
            <a:xfrm>
              <a:off x="5638800" y="0"/>
              <a:ext cx="51816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00">
                  <a:solidFill>
                    <a:srgbClr val="EA433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02</a:t>
              </a:r>
              <a:r>
                <a:rPr b="1" lang="en-US" sz="2000">
                  <a:solidFill>
                    <a:srgbClr val="EA433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안내 문자 수신</a:t>
              </a:r>
              <a:endParaRPr sz="2200"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24시간 내 안내 문자</a:t>
              </a:r>
              <a:endParaRPr b="1" sz="2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9AA0A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기재하신 연락처로 확인 및 결제 안내</a:t>
              </a:r>
              <a:endParaRPr sz="22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11277600" y="0"/>
              <a:ext cx="5181600" cy="2476500"/>
            </a:xfrm>
            <a:prstGeom prst="roundRect">
              <a:avLst>
                <a:gd fmla="val 6153" name="adj"/>
              </a:avLst>
            </a:prstGeom>
            <a:solidFill>
              <a:srgbClr val="1A1C24"/>
            </a:solidFill>
            <a:ln cap="flat" cmpd="sng" w="19050">
              <a:solidFill>
                <a:srgbClr val="34A8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591" name="Google Shape;591;p36"/>
            <p:cNvSpPr txBox="1"/>
            <p:nvPr/>
          </p:nvSpPr>
          <p:spPr>
            <a:xfrm>
              <a:off x="11277600" y="0"/>
              <a:ext cx="51816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00">
                  <a:solidFill>
                    <a:srgbClr val="34A85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03</a:t>
              </a:r>
              <a:r>
                <a:rPr b="1" lang="en-US" sz="2000">
                  <a:solidFill>
                    <a:srgbClr val="34A85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등록 완료</a:t>
              </a:r>
              <a:endParaRPr sz="2200"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 확정 및 명단 마감</a:t>
              </a:r>
              <a:endParaRPr b="1" sz="2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9AA0A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1기 명단 확정 후 8월 2일 정식 시작</a:t>
              </a:r>
              <a:endParaRPr sz="22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592" name="Google Shape;592;p36"/>
          <p:cNvSpPr/>
          <p:nvPr/>
        </p:nvSpPr>
        <p:spPr>
          <a:xfrm>
            <a:off x="0" y="9048750"/>
            <a:ext cx="18288000" cy="1238400"/>
          </a:xfrm>
          <a:prstGeom prst="rect">
            <a:avLst/>
          </a:prstGeom>
          <a:solidFill>
            <a:srgbClr val="1112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6"/>
          <p:cNvSpPr txBox="1"/>
          <p:nvPr/>
        </p:nvSpPr>
        <p:spPr>
          <a:xfrm>
            <a:off x="914400" y="9286875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주최</a:t>
            </a:r>
            <a:endParaRPr b="1" sz="1100">
              <a:solidFill>
                <a:srgbClr val="FBBC0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4" name="Google Shape;594;p36"/>
          <p:cNvSpPr txBox="1"/>
          <p:nvPr/>
        </p:nvSpPr>
        <p:spPr>
          <a:xfrm>
            <a:off x="914400" y="9572625"/>
            <a:ext cx="571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AI 거북이 커뮤니티</a:t>
            </a:r>
            <a:endParaRPr b="1" sz="1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5" name="Google Shape;595;p36"/>
          <p:cNvSpPr txBox="1"/>
          <p:nvPr/>
        </p:nvSpPr>
        <p:spPr>
          <a:xfrm>
            <a:off x="6286500" y="928687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카카오톡</a:t>
            </a:r>
            <a:endParaRPr b="1" sz="1100">
              <a:solidFill>
                <a:srgbClr val="FBBC0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6" name="Google Shape;596;p36"/>
          <p:cNvSpPr txBox="1"/>
          <p:nvPr/>
        </p:nvSpPr>
        <p:spPr>
          <a:xfrm>
            <a:off x="6286500" y="9572625"/>
            <a:ext cx="47625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we-walk</a:t>
            </a:r>
            <a:endParaRPr b="1" sz="1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7" name="Google Shape;597;p36"/>
          <p:cNvSpPr txBox="1"/>
          <p:nvPr/>
        </p:nvSpPr>
        <p:spPr>
          <a:xfrm>
            <a:off x="11039475" y="9286875"/>
            <a:ext cx="6334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BBC04"/>
                </a:solidFill>
                <a:latin typeface="Noto Sans KR"/>
                <a:ea typeface="Noto Sans KR"/>
                <a:cs typeface="Noto Sans KR"/>
                <a:sym typeface="Noto Sans KR"/>
              </a:rPr>
              <a:t>이메일</a:t>
            </a:r>
            <a:endParaRPr b="1" sz="1100">
              <a:solidFill>
                <a:srgbClr val="FBBC0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8" name="Google Shape;598;p36"/>
          <p:cNvSpPr txBox="1"/>
          <p:nvPr/>
        </p:nvSpPr>
        <p:spPr>
          <a:xfrm>
            <a:off x="11039475" y="9572625"/>
            <a:ext cx="63342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ceo@watokorea.com</a:t>
            </a:r>
            <a:endParaRPr b="1" sz="1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99" name="Google Shape;599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366350" y="115675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